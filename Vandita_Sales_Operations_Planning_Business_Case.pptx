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9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0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65985a77bb4dc2" /><Relationship Type="http://schemas.openxmlformats.org/officeDocument/2006/relationships/extended-properties" Target="/docProps/app.xml" Id="R21e44ab8897e46c8" /><Relationship Type="http://schemas.openxmlformats.org/officeDocument/2006/relationships/officeDocument" Target="/ppt/presentation.xml" Id="R471a058cc332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c4135811be4b6a"/>
  </p:sldMasterIdLst>
  <p:notesMasterIdLst>
    <p:notesMasterId xmlns:r="http://schemas.openxmlformats.org/officeDocument/2006/relationships" r:id="Rf49b62bcf20d41c4"/>
  </p:notesMasterIdLst>
  <p:sldIdLst>
    <p:sldId xmlns:r="http://schemas.openxmlformats.org/officeDocument/2006/relationships" id="256" r:id="R9027f97dd7eb4665"/>
    <p:sldId xmlns:r="http://schemas.openxmlformats.org/officeDocument/2006/relationships" id="257" r:id="R96071c609eb74fb4"/>
    <p:sldId xmlns:r="http://schemas.openxmlformats.org/officeDocument/2006/relationships" id="258" r:id="Raab7462a6f0241e9"/>
    <p:sldId xmlns:r="http://schemas.openxmlformats.org/officeDocument/2006/relationships" id="259" r:id="R298e1c967b914066"/>
    <p:sldId xmlns:r="http://schemas.openxmlformats.org/officeDocument/2006/relationships" id="260" r:id="Ra63365e520384072"/>
    <p:sldId xmlns:r="http://schemas.openxmlformats.org/officeDocument/2006/relationships" id="261" r:id="Ra551fc07623a4cee"/>
    <p:sldId xmlns:r="http://schemas.openxmlformats.org/officeDocument/2006/relationships" id="262" r:id="R15c3c10751924bc0"/>
    <p:sldId xmlns:r="http://schemas.openxmlformats.org/officeDocument/2006/relationships" id="263" r:id="R06eea5c31af34a39"/>
    <p:sldId xmlns:r="http://schemas.openxmlformats.org/officeDocument/2006/relationships" id="264" r:id="Rc42ebaed45904267"/>
    <p:sldId xmlns:r="http://schemas.openxmlformats.org/officeDocument/2006/relationships" id="265" r:id="Ra6d08737d3264700"/>
    <p:sldId xmlns:r="http://schemas.openxmlformats.org/officeDocument/2006/relationships" id="266" r:id="R8be941d0e14547a9"/>
    <p:sldId xmlns:r="http://schemas.openxmlformats.org/officeDocument/2006/relationships" id="267" r:id="R74d0ab104f0a407b"/>
    <p:sldId xmlns:r="http://schemas.openxmlformats.org/officeDocument/2006/relationships" id="268" r:id="R0bc72d47ee92471e"/>
    <p:sldId xmlns:r="http://schemas.openxmlformats.org/officeDocument/2006/relationships" id="269" r:id="R9aaf8a9d829c41fe"/>
    <p:sldId xmlns:r="http://schemas.openxmlformats.org/officeDocument/2006/relationships" id="270" r:id="Re9dce28f2bff43aa"/>
    <p:sldId xmlns:r="http://schemas.openxmlformats.org/officeDocument/2006/relationships" id="271" r:id="R497e1c0afa4f44da"/>
    <p:sldId xmlns:r="http://schemas.openxmlformats.org/officeDocument/2006/relationships" id="272" r:id="Rd1ac1d9759e74fe6"/>
    <p:sldId xmlns:r="http://schemas.openxmlformats.org/officeDocument/2006/relationships" id="273" r:id="R9374d0acd9614905"/>
    <p:sldId xmlns:r="http://schemas.openxmlformats.org/officeDocument/2006/relationships" id="274" r:id="R8b4b9ccb06264b51"/>
    <p:sldId xmlns:r="http://schemas.openxmlformats.org/officeDocument/2006/relationships" id="275" r:id="R4d4e0a049eed46b1"/>
    <p:sldId xmlns:r="http://schemas.openxmlformats.org/officeDocument/2006/relationships" id="276" r:id="R072693d747dc4a3c"/>
    <p:sldId xmlns:r="http://schemas.openxmlformats.org/officeDocument/2006/relationships" id="277" r:id="R5f62df5e08a54079"/>
    <p:sldId xmlns:r="http://schemas.openxmlformats.org/officeDocument/2006/relationships" id="278" r:id="R2569964bce7b44a0"/>
    <p:sldId xmlns:r="http://schemas.openxmlformats.org/officeDocument/2006/relationships" id="279" r:id="R6d1004ea3c2b47f5"/>
    <p:sldId xmlns:r="http://schemas.openxmlformats.org/officeDocument/2006/relationships" id="280" r:id="R62ec0c5bdba04bc4"/>
    <p:sldId xmlns:r="http://schemas.openxmlformats.org/officeDocument/2006/relationships" id="281" r:id="R40e0e4b450414c1a"/>
    <p:sldId xmlns:r="http://schemas.openxmlformats.org/officeDocument/2006/relationships" id="282" r:id="R848ed89a440748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ebb367cf5e4a6c" /><Relationship Type="http://schemas.openxmlformats.org/officeDocument/2006/relationships/slideMaster" Target="/ppt/slideMasters/slideMaster1.xml" Id="R7fc4135811be4b6a" /><Relationship Type="http://schemas.openxmlformats.org/officeDocument/2006/relationships/notesMaster" Target="/ppt/notesMasters/notesMaster1.xml" Id="Rf49b62bcf20d41c4" /><Relationship Type="http://schemas.openxmlformats.org/officeDocument/2006/relationships/presProps" Target="/ppt/presProps.xml" Id="R66a3851e5de448de" /><Relationship Type="http://schemas.openxmlformats.org/officeDocument/2006/relationships/viewProps" Target="/ppt/viewProps.xml" Id="Rd1dcecb39ce74685" /><Relationship Type="http://schemas.openxmlformats.org/officeDocument/2006/relationships/tableStyles" Target="/ppt/tableStyles.xml" Id="R3428a97bd8b64b55" /><Relationship Type="http://schemas.openxmlformats.org/officeDocument/2006/relationships/slide" Target="/ppt/slides/slide1.xml" Id="R9027f97dd7eb4665" /><Relationship Type="http://schemas.openxmlformats.org/officeDocument/2006/relationships/slide" Target="/ppt/slides/slide2.xml" Id="R96071c609eb74fb4" /><Relationship Type="http://schemas.openxmlformats.org/officeDocument/2006/relationships/slide" Target="/ppt/slides/slide3.xml" Id="Raab7462a6f0241e9" /><Relationship Type="http://schemas.openxmlformats.org/officeDocument/2006/relationships/slide" Target="/ppt/slides/slide4.xml" Id="R298e1c967b914066" /><Relationship Type="http://schemas.openxmlformats.org/officeDocument/2006/relationships/slide" Target="/ppt/slides/slide5.xml" Id="Ra63365e520384072" /><Relationship Type="http://schemas.openxmlformats.org/officeDocument/2006/relationships/slide" Target="/ppt/slides/slide6.xml" Id="Ra551fc07623a4cee" /><Relationship Type="http://schemas.openxmlformats.org/officeDocument/2006/relationships/slide" Target="/ppt/slides/slide7.xml" Id="R15c3c10751924bc0" /><Relationship Type="http://schemas.openxmlformats.org/officeDocument/2006/relationships/slide" Target="/ppt/slides/slide8.xml" Id="R06eea5c31af34a39" /><Relationship Type="http://schemas.openxmlformats.org/officeDocument/2006/relationships/slide" Target="/ppt/slides/slide9.xml" Id="Rc42ebaed45904267" /><Relationship Type="http://schemas.openxmlformats.org/officeDocument/2006/relationships/slide" Target="/ppt/slides/slide10.xml" Id="Ra6d08737d3264700" /><Relationship Type="http://schemas.openxmlformats.org/officeDocument/2006/relationships/slide" Target="/ppt/slides/slide11.xml" Id="R8be941d0e14547a9" /><Relationship Type="http://schemas.openxmlformats.org/officeDocument/2006/relationships/slide" Target="/ppt/slides/slide12.xml" Id="R74d0ab104f0a407b" /><Relationship Type="http://schemas.openxmlformats.org/officeDocument/2006/relationships/slide" Target="/ppt/slides/slide13.xml" Id="R0bc72d47ee92471e" /><Relationship Type="http://schemas.openxmlformats.org/officeDocument/2006/relationships/slide" Target="/ppt/slides/slide14.xml" Id="R9aaf8a9d829c41fe" /><Relationship Type="http://schemas.openxmlformats.org/officeDocument/2006/relationships/slide" Target="/ppt/slides/slide15.xml" Id="Re9dce28f2bff43aa" /><Relationship Type="http://schemas.openxmlformats.org/officeDocument/2006/relationships/slide" Target="/ppt/slides/slide16.xml" Id="R497e1c0afa4f44da" /><Relationship Type="http://schemas.openxmlformats.org/officeDocument/2006/relationships/slide" Target="/ppt/slides/slide17.xml" Id="Rd1ac1d9759e74fe6" /><Relationship Type="http://schemas.openxmlformats.org/officeDocument/2006/relationships/slide" Target="/ppt/slides/slide18.xml" Id="R9374d0acd9614905" /><Relationship Type="http://schemas.openxmlformats.org/officeDocument/2006/relationships/slide" Target="/ppt/slides/slide19.xml" Id="R8b4b9ccb06264b51" /><Relationship Type="http://schemas.openxmlformats.org/officeDocument/2006/relationships/slide" Target="/ppt/slides/slide20.xml" Id="R4d4e0a049eed46b1" /><Relationship Type="http://schemas.openxmlformats.org/officeDocument/2006/relationships/slide" Target="/ppt/slides/slide21.xml" Id="R072693d747dc4a3c" /><Relationship Type="http://schemas.openxmlformats.org/officeDocument/2006/relationships/slide" Target="/ppt/slides/slide22.xml" Id="R5f62df5e08a54079" /><Relationship Type="http://schemas.openxmlformats.org/officeDocument/2006/relationships/slide" Target="/ppt/slides/slide23.xml" Id="R2569964bce7b44a0" /><Relationship Type="http://schemas.openxmlformats.org/officeDocument/2006/relationships/slide" Target="/ppt/slides/slide24.xml" Id="R6d1004ea3c2b47f5" /><Relationship Type="http://schemas.openxmlformats.org/officeDocument/2006/relationships/slide" Target="/ppt/slides/slide25.xml" Id="R62ec0c5bdba04bc4" /><Relationship Type="http://schemas.openxmlformats.org/officeDocument/2006/relationships/slide" Target="/ppt/slides/slide26.xml" Id="R40e0e4b450414c1a" /><Relationship Type="http://schemas.openxmlformats.org/officeDocument/2006/relationships/slide" Target="/ppt/slides/slide27.xml" Id="R848ed89a4407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1943604c1143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2bcea219dc46b3" /><Relationship Type="http://schemas.openxmlformats.org/officeDocument/2006/relationships/notesMaster" Target="/ppt/notesMasters/notesMaster1.xml" Id="R4b5e5aeeb05449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df23877694f5f" /><Relationship Type="http://schemas.openxmlformats.org/officeDocument/2006/relationships/notesMaster" Target="/ppt/notesMasters/notesMaster1.xml" Id="R9b42c9c05e864d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2c394139124f40" /><Relationship Type="http://schemas.openxmlformats.org/officeDocument/2006/relationships/notesMaster" Target="/ppt/notesMasters/notesMaster1.xml" Id="R0f56bd754fe04f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13472a28e64d5e" /><Relationship Type="http://schemas.openxmlformats.org/officeDocument/2006/relationships/notesMaster" Target="/ppt/notesMasters/notesMaster1.xml" Id="Rb28d37783b1940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fb8b1a1f634794" /><Relationship Type="http://schemas.openxmlformats.org/officeDocument/2006/relationships/notesMaster" Target="/ppt/notesMasters/notesMaster1.xml" Id="Rb697a823d2954e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80151dd13e4b54" /><Relationship Type="http://schemas.openxmlformats.org/officeDocument/2006/relationships/notesMaster" Target="/ppt/notesMasters/notesMaster1.xml" Id="R84d153a13a894f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c0cace91384961" /><Relationship Type="http://schemas.openxmlformats.org/officeDocument/2006/relationships/notesMaster" Target="/ppt/notesMasters/notesMaster1.xml" Id="Rd9feb9637d784b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51a7ad53b54d78" /><Relationship Type="http://schemas.openxmlformats.org/officeDocument/2006/relationships/notesMaster" Target="/ppt/notesMasters/notesMaster1.xml" Id="R001e849fdcd144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f1b2ed45554fc6" /><Relationship Type="http://schemas.openxmlformats.org/officeDocument/2006/relationships/notesMaster" Target="/ppt/notesMasters/notesMaster1.xml" Id="Rea570f7a72ed4b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4dec9e81a347cf" /><Relationship Type="http://schemas.openxmlformats.org/officeDocument/2006/relationships/notesMaster" Target="/ppt/notesMasters/notesMaster1.xml" Id="Re0e12483336541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ede86003ef4ab1" /><Relationship Type="http://schemas.openxmlformats.org/officeDocument/2006/relationships/notesMaster" Target="/ppt/notesMasters/notesMaster1.xml" Id="Rb55dec57e83840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72564314534451" /><Relationship Type="http://schemas.openxmlformats.org/officeDocument/2006/relationships/notesMaster" Target="/ppt/notesMasters/notesMaster1.xml" Id="R8546e8acca1d4c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c2aefc15174bd5" /><Relationship Type="http://schemas.openxmlformats.org/officeDocument/2006/relationships/notesMaster" Target="/ppt/notesMasters/notesMaster1.xml" Id="R6bedd9a065b749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8198f668f54c81" /><Relationship Type="http://schemas.openxmlformats.org/officeDocument/2006/relationships/notesMaster" Target="/ppt/notesMasters/notesMaster1.xml" Id="R290242242af54c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f5492bae5b4c9b" /><Relationship Type="http://schemas.openxmlformats.org/officeDocument/2006/relationships/notesMaster" Target="/ppt/notesMasters/notesMaster1.xml" Id="R8b990709253d46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46c0fbc6244269" /><Relationship Type="http://schemas.openxmlformats.org/officeDocument/2006/relationships/notesMaster" Target="/ppt/notesMasters/notesMaster1.xml" Id="R25febd5561c04c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dc8f8a785f4fb7" /><Relationship Type="http://schemas.openxmlformats.org/officeDocument/2006/relationships/notesMaster" Target="/ppt/notesMasters/notesMaster1.xml" Id="R71df5ebca5d346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0eb432528645f4" /><Relationship Type="http://schemas.openxmlformats.org/officeDocument/2006/relationships/notesMaster" Target="/ppt/notesMasters/notesMaster1.xml" Id="Rc539fa6258c447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869791b5cf84c4b" /><Relationship Type="http://schemas.openxmlformats.org/officeDocument/2006/relationships/notesMaster" Target="/ppt/notesMasters/notesMaster1.xml" Id="R64442a16e3744c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20d24f237346bc" /><Relationship Type="http://schemas.openxmlformats.org/officeDocument/2006/relationships/notesMaster" Target="/ppt/notesMasters/notesMaster1.xml" Id="R636fdd8665e042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acddfea48b4b11" /><Relationship Type="http://schemas.openxmlformats.org/officeDocument/2006/relationships/notesMaster" Target="/ppt/notesMasters/notesMaster1.xml" Id="Rd5fc7d60ac4c488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535368a4e544c7" /><Relationship Type="http://schemas.openxmlformats.org/officeDocument/2006/relationships/notesMaster" Target="/ppt/notesMasters/notesMaster1.xml" Id="Rf169dd687ba24e9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47b6cd55ff4c7e" /><Relationship Type="http://schemas.openxmlformats.org/officeDocument/2006/relationships/notesMaster" Target="/ppt/notesMasters/notesMaster1.xml" Id="R5b89c7f2ae8f40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be9558e63e42d1" /><Relationship Type="http://schemas.openxmlformats.org/officeDocument/2006/relationships/notesMaster" Target="/ppt/notesMasters/notesMaster1.xml" Id="R02505e5b18c149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f1c124720b6476d" /><Relationship Type="http://schemas.openxmlformats.org/officeDocument/2006/relationships/notesMaster" Target="/ppt/notesMasters/notesMaster1.xml" Id="R0ab82d0a41414db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48458cf1d04ac0" /><Relationship Type="http://schemas.openxmlformats.org/officeDocument/2006/relationships/notesMaster" Target="/ppt/notesMasters/notesMaster1.xml" Id="Rae6343331542480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72705b1e19f4750" /><Relationship Type="http://schemas.openxmlformats.org/officeDocument/2006/relationships/notesMaster" Target="/ppt/notesMasters/notesMaster1.xml" Id="R46a8b6bff36d4d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c454ec13a49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237350f1a4f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3e1c51e3642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7e2777e3e49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03b4b55694a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20db8a22f48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50410ea8e44d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39d9ff1b1497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69af9864240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3649e00d84da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d327e9d3144d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EB221D-C9E3-E29A-074D-3DB3FA1576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50F9B0E-3848-D83C-0BBB-D14B98C774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642D22-F984-8197-013F-0543357574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D7CB96-35C6-9E9A-69FA-F5ABA08E82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0A6D20-4623-B8A6-CA0D-6DC218B25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1F9589-5C48-7657-EFD7-E702D0930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FEF570-8D47-C43F-0875-E7E8D8ADF7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7EF51A-EC06-F73F-1AFC-46510BF58E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CBA2D9-4226-511F-F1FD-C8F59B80D9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7FE220-1258-28F8-DCF2-ABD6EE4CE1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AA48CC-11E3-2CBE-9DBE-5C5E39E4F6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D03835-AB4A-C551-71F7-538E531563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F310AC-45AC-B89B-B9CA-A67B6AE87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56CF92-2623-773F-D22E-FEB8C671DA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6C5557-8B07-30F0-B3C5-ED91DA8269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B83D74-A8EA-E3DF-8B0E-ECCA41873A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8E3B9FC-78F1-A4D5-6AD8-983D3B53CF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32F852E-083B-501B-8514-60CB38E5F58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D5E1FF7-32A4-8DFF-B3F4-E20A248EF2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5C31037-7C4A-C83E-7D61-33CC910A9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71D4FF5-A420-1234-00D0-ABE9B003DB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933B3A-C050-82D0-6ED9-93CBAB35B2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F36C37-8820-0D36-E43D-22343F4D28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7F6869A-65C9-5687-002F-BC56781B9FF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37E4AB-7B62-CE57-2FD0-BD216F334F8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9918DA0-AF18-B449-8C57-4BAB4CBEE95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92356D6-94F3-74CF-F0DC-B410FA6056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2B3FFDF-4B48-5207-34D0-5FDCD404E0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01F06D9-2B55-4629-5DCE-F8E8EDBD39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947ABD-467D-4A32-8123-469B2240D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0B5DFA-B825-410D-665B-FAB90498A3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CD01AFA-96CD-39D9-1C1A-84F7CF27B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113511-230D-9C82-E27B-521F025F50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62A6E09-3B23-2E43-5A11-14B467EA2F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9F35672-ADDC-8829-878A-8705D45F35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FE2CE9-7866-DDD3-B567-710B70D3B3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6EC897-DA89-5BA0-E069-2E1841E55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7C6354-0937-F964-59E3-171AF42A0F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F5D93AF-E5DD-6989-DA91-B9D4D9E369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D58B667-2E44-E646-B474-1253F08EAC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10CA022-681B-3AE1-8EA7-8C314F8C58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1CB8BC5-CD8E-FC0D-4A27-2AE5680B6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999E2-8F99-0937-98D2-328A97514C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E7944F0-23C0-F8F4-E715-EC70398EE89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83F8A0-0B68-C01A-6D86-E7F89CB4F1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0C7DE0-F9E9-B574-8A57-8B2671D543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04D7575-77D9-68B0-A771-BC32DD7CAC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282A289-6349-E8D8-4588-80CC16FC52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93A76D-88C0-96DC-20A9-0CDBA79E22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DDD834-A65C-439E-5D78-83AFBC8DA4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1492CF-BA53-3D73-F526-FCB7E5BE89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9B50DA-5791-34A2-50E8-BCAA5BEF84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8F5B06-638B-6C07-8403-FB76F4C34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7DC7A40-9346-C3B0-F6D6-19A7578DD1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2B9978-2AD0-42C4-3428-87FC712DDA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657239-21BB-B233-7DC2-FB41FE5847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D64D87-20F2-4D8D-E234-D308CC7AEC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7D6363-5DEA-6C4B-24B4-5FA2730300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459c9123be4e8f" /><Relationship Type="http://schemas.openxmlformats.org/officeDocument/2006/relationships/slideLayout" Target="/ppt/slideLayouts/slideLayout1.xml" Id="Rece298dd0caf40f6" /><Relationship Type="http://schemas.openxmlformats.org/officeDocument/2006/relationships/slideLayout" Target="/ppt/slideLayouts/slideLayout2.xml" Id="R7310550e05214ef1" /><Relationship Type="http://schemas.openxmlformats.org/officeDocument/2006/relationships/slideLayout" Target="/ppt/slideLayouts/slideLayout3.xml" Id="R04a71c1117e84ed4" /><Relationship Type="http://schemas.openxmlformats.org/officeDocument/2006/relationships/slideLayout" Target="/ppt/slideLayouts/slideLayout4.xml" Id="Re3ff6e2f603f421a" /><Relationship Type="http://schemas.openxmlformats.org/officeDocument/2006/relationships/slideLayout" Target="/ppt/slideLayouts/slideLayout5.xml" Id="R50eee009c0fe4d69" /><Relationship Type="http://schemas.openxmlformats.org/officeDocument/2006/relationships/slideLayout" Target="/ppt/slideLayouts/slideLayout6.xml" Id="R6d64e79b11ed4e79" /><Relationship Type="http://schemas.openxmlformats.org/officeDocument/2006/relationships/slideLayout" Target="/ppt/slideLayouts/slideLayout7.xml" Id="Rfb28d915747e41f6" /><Relationship Type="http://schemas.openxmlformats.org/officeDocument/2006/relationships/slideLayout" Target="/ppt/slideLayouts/slideLayout8.xml" Id="Ra7b0e7c902ca4c2c" /><Relationship Type="http://schemas.openxmlformats.org/officeDocument/2006/relationships/slideLayout" Target="/ppt/slideLayouts/slideLayout9.xml" Id="R0a326fbe72fd4da1" /><Relationship Type="http://schemas.openxmlformats.org/officeDocument/2006/relationships/slideLayout" Target="/ppt/slideLayouts/slideLayout10.xml" Id="R2bbea04dfd594f8d" /><Relationship Type="http://schemas.openxmlformats.org/officeDocument/2006/relationships/slideLayout" Target="/ppt/slideLayouts/slideLayout11.xml" Id="R041aff291aab4b6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CD6C7C-F96E-AA8D-F517-7F38ACCFF1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54DDF8-C2C2-09F6-5286-DEB3DC40B2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3BE359-7164-07BF-9DA2-58086E85AE5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59E5BC77-E273-4584-BE0E-B4F43516A25E}" type="datetimeFigureOut">
              <a:t>2024-06-12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17EEC8-D2FC-DDBD-D254-CE31A4618F8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7F64B3-93E7-BFAE-13E6-6887D0973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7A28D39-CD2C-4640-94C4-21C2720AC6F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e298dd0caf40f6"/>
    <p:sldLayoutId xmlns:r="http://schemas.openxmlformats.org/officeDocument/2006/relationships" id="2147483650" r:id="R7310550e05214ef1"/>
    <p:sldLayoutId xmlns:r="http://schemas.openxmlformats.org/officeDocument/2006/relationships" id="2147483651" r:id="R04a71c1117e84ed4"/>
    <p:sldLayoutId xmlns:r="http://schemas.openxmlformats.org/officeDocument/2006/relationships" id="2147483652" r:id="Re3ff6e2f603f421a"/>
    <p:sldLayoutId xmlns:r="http://schemas.openxmlformats.org/officeDocument/2006/relationships" id="2147483653" r:id="R50eee009c0fe4d69"/>
    <p:sldLayoutId xmlns:r="http://schemas.openxmlformats.org/officeDocument/2006/relationships" id="2147483654" r:id="R6d64e79b11ed4e79"/>
    <p:sldLayoutId xmlns:r="http://schemas.openxmlformats.org/officeDocument/2006/relationships" id="2147483655" r:id="Rfb28d915747e41f6"/>
    <p:sldLayoutId xmlns:r="http://schemas.openxmlformats.org/officeDocument/2006/relationships" id="2147483656" r:id="Ra7b0e7c902ca4c2c"/>
    <p:sldLayoutId xmlns:r="http://schemas.openxmlformats.org/officeDocument/2006/relationships" id="2147483657" r:id="R0a326fbe72fd4da1"/>
    <p:sldLayoutId xmlns:r="http://schemas.openxmlformats.org/officeDocument/2006/relationships" id="2147483658" r:id="R2bbea04dfd594f8d"/>
    <p:sldLayoutId xmlns:r="http://schemas.openxmlformats.org/officeDocument/2006/relationships" id="2147483659" r:id="R041aff291aab4b6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8821fc087b4769" /><Relationship Type="http://schemas.openxmlformats.org/officeDocument/2006/relationships/image" Target="/ppt/media/image.emf" Id="R17e429b9b2c948d5" /><Relationship Type="http://schemas.openxmlformats.org/officeDocument/2006/relationships/notesSlide" Target="/ppt/notesSlides/notesSlide1.xml" Id="R96cfcc4634d240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563defce08420c" /><Relationship Type="http://schemas.openxmlformats.org/officeDocument/2006/relationships/notesSlide" Target="/ppt/notesSlides/notesSlide2.xml" Id="R8398cc3f8abc43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95e88794384790" /><Relationship Type="http://schemas.openxmlformats.org/officeDocument/2006/relationships/notesSlide" Target="/ppt/notesSlides/notesSlide3.xml" Id="Rb0389fa0368040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3d9a7aa63640ba" /><Relationship Type="http://schemas.openxmlformats.org/officeDocument/2006/relationships/notesSlide" Target="/ppt/notesSlides/notesSlide4.xml" Id="R889d7a754c1f4f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ccdb673f204b34" /><Relationship Type="http://schemas.openxmlformats.org/officeDocument/2006/relationships/image" Target="/ppt/media/image.png" Id="Rafc2b94057dd4407" /><Relationship Type="http://schemas.openxmlformats.org/officeDocument/2006/relationships/image" Target="/ppt/media/image2.png" Id="R58127f2df6754226" /><Relationship Type="http://schemas.openxmlformats.org/officeDocument/2006/relationships/notesSlide" Target="/ppt/notesSlides/notesSlide5.xml" Id="R1e204ab3c75640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c2647e48ee48b3" /><Relationship Type="http://schemas.openxmlformats.org/officeDocument/2006/relationships/image" Target="/ppt/media/image3.png" Id="Ra1548207361a46ae" /><Relationship Type="http://schemas.openxmlformats.org/officeDocument/2006/relationships/image" Target="/ppt/media/image4.png" Id="Rc8764de665504f8d" /><Relationship Type="http://schemas.openxmlformats.org/officeDocument/2006/relationships/notesSlide" Target="/ppt/notesSlides/notesSlide6.xml" Id="R1c74fdff14ca48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a74d81f13442a5" /><Relationship Type="http://schemas.openxmlformats.org/officeDocument/2006/relationships/image" Target="/ppt/media/image5.png" Id="R99940b19ae3a4007" /><Relationship Type="http://schemas.openxmlformats.org/officeDocument/2006/relationships/image" Target="/ppt/media/image6.png" Id="R882e010fc5874ce7" /><Relationship Type="http://schemas.openxmlformats.org/officeDocument/2006/relationships/notesSlide" Target="/ppt/notesSlides/notesSlide7.xml" Id="Rce71fbef0e264a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4cfba6901e437a" /><Relationship Type="http://schemas.openxmlformats.org/officeDocument/2006/relationships/chart" Target="/ppt/slides/charts/chart1.xml" Id="R05255f14df52465c" /><Relationship Type="http://schemas.openxmlformats.org/officeDocument/2006/relationships/notesSlide" Target="/ppt/notesSlides/notesSlide8.xml" Id="R6fcececcbaf444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4f312330c84883" /><Relationship Type="http://schemas.openxmlformats.org/officeDocument/2006/relationships/chart" Target="/ppt/slides/charts/chart2.xml" Id="R99832d891f1243af" /><Relationship Type="http://schemas.openxmlformats.org/officeDocument/2006/relationships/notesSlide" Target="/ppt/notesSlides/notesSlide9.xml" Id="R24fdb387fe0f4e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18165fe19f435b" /><Relationship Type="http://schemas.openxmlformats.org/officeDocument/2006/relationships/image" Target="/ppt/media/image7.png" Id="Rd6961dfb9f134321" /><Relationship Type="http://schemas.openxmlformats.org/officeDocument/2006/relationships/notesSlide" Target="/ppt/notesSlides/notesSlide10.xml" Id="Ra60f4c3db6b343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e704c9995b4f9f" /><Relationship Type="http://schemas.openxmlformats.org/officeDocument/2006/relationships/image" Target="/ppt/media/image8.png" Id="R7d49c8f14a064427" /><Relationship Type="http://schemas.openxmlformats.org/officeDocument/2006/relationships/notesSlide" Target="/ppt/notesSlides/notesSlide11.xml" Id="R0083e19bf80147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653f281789419b" /><Relationship Type="http://schemas.openxmlformats.org/officeDocument/2006/relationships/chart" Target="/ppt/slides/charts/chart3.xml" Id="R2dbd86ab072d44dd" /><Relationship Type="http://schemas.openxmlformats.org/officeDocument/2006/relationships/chart" Target="/ppt/slides/charts/chart4.xml" Id="Re7603a1d32614991" /><Relationship Type="http://schemas.openxmlformats.org/officeDocument/2006/relationships/notesSlide" Target="/ppt/notesSlides/notesSlide12.xml" Id="Re9c2743b1ef640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d04eb3a8514f08" /><Relationship Type="http://schemas.openxmlformats.org/officeDocument/2006/relationships/notesSlide" Target="/ppt/notesSlides/notesSlide13.xml" Id="R9d8c2007c4764c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93b8218d1d4d65" /><Relationship Type="http://schemas.openxmlformats.org/officeDocument/2006/relationships/chart" Target="/ppt/slides/charts/chart5.xml" Id="R0fb6b08076a249d1" /><Relationship Type="http://schemas.openxmlformats.org/officeDocument/2006/relationships/chart" Target="/ppt/slides/charts/chart6.xml" Id="R9f05af40cb374820" /><Relationship Type="http://schemas.openxmlformats.org/officeDocument/2006/relationships/chart" Target="/ppt/slides/charts/chart7.xml" Id="R497cb70de46f4638" /><Relationship Type="http://schemas.openxmlformats.org/officeDocument/2006/relationships/chart" Target="/ppt/slides/charts/chart8.xml" Id="R6cfca8b19d0d4717" /><Relationship Type="http://schemas.openxmlformats.org/officeDocument/2006/relationships/notesSlide" Target="/ppt/notesSlides/notesSlide14.xml" Id="Rf2fbb3a7807746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21464a1e714984" /><Relationship Type="http://schemas.openxmlformats.org/officeDocument/2006/relationships/chart" Target="/ppt/slides/charts/chart9.xml" Id="Redb07e37b39d4038" /><Relationship Type="http://schemas.openxmlformats.org/officeDocument/2006/relationships/notesSlide" Target="/ppt/notesSlides/notesSlide15.xml" Id="R285c62ae9aa644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d83a0b79584893" /><Relationship Type="http://schemas.openxmlformats.org/officeDocument/2006/relationships/chart" Target="/ppt/slides/charts/chart10.xml" Id="R17230d7284144fb1" /><Relationship Type="http://schemas.openxmlformats.org/officeDocument/2006/relationships/notesSlide" Target="/ppt/notesSlides/notesSlide16.xml" Id="Rc92c6dc60e6f43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73642b370a4395" /><Relationship Type="http://schemas.openxmlformats.org/officeDocument/2006/relationships/notesSlide" Target="/ppt/notesSlides/notesSlide17.xml" Id="Rf2f613d5506e4d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80224c3a7c48c4" /><Relationship Type="http://schemas.openxmlformats.org/officeDocument/2006/relationships/image" Target="/ppt/media/image9.png" Id="R357cd5e0f7d04bcd" /><Relationship Type="http://schemas.openxmlformats.org/officeDocument/2006/relationships/image" Target="/ppt/media/image10.png" Id="Rbd31d10da98c45e9" /><Relationship Type="http://schemas.openxmlformats.org/officeDocument/2006/relationships/notesSlide" Target="/ppt/notesSlides/notesSlide18.xml" Id="R8f5a1cf6601543a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30b89f1180428f" /><Relationship Type="http://schemas.openxmlformats.org/officeDocument/2006/relationships/notesSlide" Target="/ppt/notesSlides/notesSlide19.xml" Id="R6c8b83e7c25e47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008147529d4f3e" /><Relationship Type="http://schemas.openxmlformats.org/officeDocument/2006/relationships/image" Target="/ppt/media/image11.png" Id="R03926d6f2b6c4bbd" /><Relationship Type="http://schemas.openxmlformats.org/officeDocument/2006/relationships/notesSlide" Target="/ppt/notesSlides/notesSlide20.xml" Id="R2c3e36dca4254c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7e5ec904534818" /><Relationship Type="http://schemas.openxmlformats.org/officeDocument/2006/relationships/notesSlide" Target="/ppt/notesSlides/notesSlide21.xml" Id="Rd3436cd6aba34b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f0554078c241f6" /><Relationship Type="http://schemas.openxmlformats.org/officeDocument/2006/relationships/notesSlide" Target="/ppt/notesSlides/notesSlide22.xml" Id="Rf5d07c693864432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8a4af56cfb4b98" /><Relationship Type="http://schemas.openxmlformats.org/officeDocument/2006/relationships/notesSlide" Target="/ppt/notesSlides/notesSlide23.xml" Id="Rf6743870177a40a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03997a8eba42b0" /><Relationship Type="http://schemas.openxmlformats.org/officeDocument/2006/relationships/image" Target="/ppt/media/image12.png" Id="Rb993413b77f54e05" /><Relationship Type="http://schemas.openxmlformats.org/officeDocument/2006/relationships/image" Target="/ppt/media/image13.png" Id="Ra898a32436524eec" /><Relationship Type="http://schemas.openxmlformats.org/officeDocument/2006/relationships/notesSlide" Target="/ppt/notesSlides/notesSlide24.xml" Id="R5e0b82a9cb7241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bd42b351ee469b" /><Relationship Type="http://schemas.openxmlformats.org/officeDocument/2006/relationships/chart" Target="/ppt/slides/charts/chart11.xml" Id="Rdfcddb3491b24840" /><Relationship Type="http://schemas.openxmlformats.org/officeDocument/2006/relationships/chart" Target="/ppt/slides/charts/chart12.xml" Id="Rc5ca06107dd14693" /><Relationship Type="http://schemas.openxmlformats.org/officeDocument/2006/relationships/chart" Target="/ppt/slides/charts/chart13.xml" Id="R9171ffdacd914248" /><Relationship Type="http://schemas.openxmlformats.org/officeDocument/2006/relationships/chart" Target="/ppt/slides/charts/chart14.xml" Id="Raf21cbb2aea6464f" /><Relationship Type="http://schemas.openxmlformats.org/officeDocument/2006/relationships/notesSlide" Target="/ppt/notesSlides/notesSlide25.xml" Id="Rb351c113d3304a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bced3c5f7f4923" /><Relationship Type="http://schemas.openxmlformats.org/officeDocument/2006/relationships/chart" Target="/ppt/slides/charts/chart15.xml" Id="Rc9beb43620464a6d" /><Relationship Type="http://schemas.openxmlformats.org/officeDocument/2006/relationships/chart" Target="/ppt/slides/charts/chart16.xml" Id="Rc7bf1b871d524d6c" /><Relationship Type="http://schemas.openxmlformats.org/officeDocument/2006/relationships/chart" Target="/ppt/slides/charts/chart17.xml" Id="Rbe4660adedad449d" /><Relationship Type="http://schemas.openxmlformats.org/officeDocument/2006/relationships/notesSlide" Target="/ppt/notesSlides/notesSlide26.xml" Id="R42728fadc92c42b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dc58e19fbc40ff" /><Relationship Type="http://schemas.openxmlformats.org/officeDocument/2006/relationships/notesSlide" Target="/ppt/notesSlides/notesSlide27.xml" Id="Rcecd50f156d14714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7534394376057965"/>
          <c:w val="1"/>
          <c:h val="0.81377461863870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table'!$R$63</c:f>
              <c:strCache>
                <c:ptCount val="1"/>
                <c:pt idx="0">
                  <c:v>Sales growth</c:v>
                </c:pt>
              </c:strCache>
            </c:strRef>
          </c:tx>
          <c:spPr>
            <a:solidFill xmlns:a="http://schemas.openxmlformats.org/drawingml/2006/main">
              <a:srgbClr val="0070C0"/>
            </a:solidFill>
            <a:ln xmlns:a="http://schemas.openxmlformats.org/drawingml/2006/main">
              <a:noFill/>
            </a:ln>
          </c:spPr>
          <c:invertIfNegative val="0"/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 b="1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'Pivot table'!$Q$64:$Q$67</c:f>
              <c:strCache>
                <c:ptCount val="4"/>
                <c:pt idx="0">
                  <c:v>Toner</c:v>
                </c:pt>
                <c:pt idx="1">
                  <c:v>Tape</c:v>
                </c:pt>
                <c:pt idx="2">
                  <c:v>Drum</c:v>
                </c:pt>
                <c:pt idx="3">
                  <c:v>Ink</c:v>
                </c:pt>
              </c:strCache>
            </c:strRef>
          </c:cat>
          <c:val>
            <c:numRef>
              <c:f>'Pivot table'!$R$64:$R$67</c:f>
              <c:numCache>
                <c:formatCode>0%</c:formatCode>
                <c:ptCount val="4"/>
                <c:pt idx="0">
                  <c:v>0.15884442523289388</c:v>
                </c:pt>
                <c:pt idx="1">
                  <c:v>-0.044812526134832505</c:v>
                </c:pt>
                <c:pt idx="2">
                  <c:v>-0.09318762363877311</c:v>
                </c:pt>
                <c:pt idx="3">
                  <c:v>0.6537816210635002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25047391"/>
        <c:axId val="1925048831"/>
      </c:barChart>
      <c:catAx>
        <c:axId val="1925047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0" spcFirstLastPara="1" wrap="square" anchor="b" anchorCtr="1"/>
          <a:lstStyle xmlns:a="http://schemas.openxmlformats.org/drawingml/2006/main"/>
          <a:p xmlns:a="http://schemas.openxmlformats.org/drawingml/2006/main">
            <a:pPr>
              <a:defRPr sz="1400" b="1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1925048831"/>
        <c:crosses val="autoZero"/>
        <c:lblOffset val="100"/>
      </c:catAx>
      <c:valAx>
        <c:axId val="1925048831"/>
        <c:scaling>
          <c:orientation val="minMax"/>
          <c:min val="-0.1"/>
        </c:scaling>
        <c:delete val="1"/>
        <c:axPos val="l"/>
        <c:numFmt formatCode="0%" sourceLinked="1"/>
        <c:majorTickMark val="none"/>
        <c:minorTickMark val="none"/>
        <c:tickLblPos val="nextTo"/>
        <c:crossAx val="1925047391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9525" cmpd="sng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06665844608520012"/>
          <c:y val="0.05686052541997272"/>
          <c:w val="0.9889080657932313"/>
          <c:h val="0.83185688904525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table'!$R$71</c:f>
              <c:strCache>
                <c:ptCount val="1"/>
                <c:pt idx="0">
                  <c:v>Sales growth</c:v>
                </c:pt>
              </c:strCache>
            </c:strRef>
          </c:tx>
          <c:spPr>
            <a:solidFill xmlns:a="http://schemas.openxmlformats.org/drawingml/2006/main">
              <a:srgbClr val="0070C0"/>
            </a:solidFill>
            <a:ln xmlns:a="http://schemas.openxmlformats.org/drawingml/2006/main">
              <a:noFill/>
            </a:ln>
          </c:spPr>
          <c:invertIfNegative val="0"/>
          <c:dLbls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 b="1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'Pivot table'!$Q$72:$Q$82</c:f>
              <c:strCache>
                <c:ptCount val="11"/>
                <c:pt idx="0">
                  <c:v>Drum1</c:v>
                </c:pt>
                <c:pt idx="1">
                  <c:v>Drum2</c:v>
                </c:pt>
                <c:pt idx="2">
                  <c:v>Ink1</c:v>
                </c:pt>
                <c:pt idx="3">
                  <c:v>Ink2</c:v>
                </c:pt>
                <c:pt idx="4">
                  <c:v>Tape1</c:v>
                </c:pt>
                <c:pt idx="5">
                  <c:v>Tape2</c:v>
                </c:pt>
                <c:pt idx="6">
                  <c:v>Tape3</c:v>
                </c:pt>
                <c:pt idx="7">
                  <c:v>Toner1</c:v>
                </c:pt>
                <c:pt idx="8">
                  <c:v>Toner2</c:v>
                </c:pt>
                <c:pt idx="9">
                  <c:v>Toner3</c:v>
                </c:pt>
                <c:pt idx="10">
                  <c:v>Toner4</c:v>
                </c:pt>
              </c:strCache>
            </c:strRef>
          </c:cat>
          <c:val>
            <c:numRef>
              <c:f>'Pivot table'!$R$72:$R$82</c:f>
              <c:numCache>
                <c:formatCode>0%</c:formatCode>
                <c:ptCount val="11"/>
                <c:pt idx="0">
                  <c:v>-0.1602866473149492</c:v>
                </c:pt>
                <c:pt idx="1">
                  <c:v>-0.07516507077942645</c:v>
                </c:pt>
                <c:pt idx="2">
                  <c:v>0.16275757288006837</c:v>
                </c:pt>
                <c:pt idx="3">
                  <c:v>1.6952668680765357</c:v>
                </c:pt>
                <c:pt idx="4">
                  <c:v>-0.02729480184663349</c:v>
                </c:pt>
                <c:pt idx="5">
                  <c:v>0.009015365318281593</c:v>
                </c:pt>
                <c:pt idx="6">
                  <c:v>-0.32507552870090634</c:v>
                </c:pt>
                <c:pt idx="7">
                  <c:v>-0.6906141367323291</c:v>
                </c:pt>
                <c:pt idx="8">
                  <c:v>0.17799117860532634</c:v>
                </c:pt>
                <c:pt idx="9">
                  <c:v>0.35985325171170784</c:v>
                </c:pt>
                <c:pt idx="10">
                  <c:v>0.13306145255203383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04564320"/>
        <c:axId val="1404565280"/>
      </c:barChart>
      <c:catAx>
        <c:axId val="1404564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 algn="ctr">
              <a:defRPr sz="1200" b="1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1404565280"/>
        <c:crosses val="autoZero"/>
        <c:lblOffset val="100"/>
      </c:catAx>
      <c:valAx>
        <c:axId val="1404565280"/>
        <c:scaling>
          <c:orientation val="minMax"/>
          <c:max val="1.7000000000000002"/>
          <c:min val="-0.8"/>
        </c:scaling>
        <c:delete val="1"/>
        <c:axPos val="l"/>
        <c:numFmt formatCode="0%" sourceLinked="1"/>
        <c:majorTickMark val="none"/>
        <c:minorTickMark val="none"/>
        <c:tickLblPos val="nextTo"/>
        <c:crossAx val="140456432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Toner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Sheet4!$F$2</c:f>
              <c:strCache>
                <c:ptCount val="1"/>
                <c:pt idx="0">
                  <c:v>Ink2</c:v>
                </c:pt>
              </c:strCache>
            </c:strRef>
          </c:tx>
          <c:spPr>
            <a:ln xmlns:a="http://schemas.openxmlformats.org/drawingml/2006/main" w="28575">
              <a:solidFill>
                <a:srgbClr val="00B0F0"/>
              </a:solidFill>
            </a:ln>
          </c:spPr>
          <c:marker>
            <c:symbol val="none"/>
          </c:marker>
          <c:dLbls>
            <c:dLbl>
              <c:idx val="24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trendline>
            <c:spPr>
              <a:ln xmlns:a="http://schemas.openxmlformats.org/drawingml/2006/main" w="19050">
                <a:solidFill>
                  <a:schemeClr val="accent1"/>
                </a:solidFill>
                <a:prstDash val="sysDot"/>
              </a:ln>
            </c:spPr>
            <c:trendlineType val="linear"/>
            <c:dispRSqr val="0"/>
            <c:dispEq val="0"/>
          </c:trendline>
          <c:cat>
            <c:numRef>
              <c:f>Sheet4!$B$39:$B$63</c:f>
              <c:numCache>
                <c:formatCode>mmm\-yy</c:formatCode>
                <c:ptCount val="25"/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  <c:pt idx="13">
                  <c:v>45047</c:v>
                </c:pt>
                <c:pt idx="14">
                  <c:v>45078</c:v>
                </c:pt>
                <c:pt idx="15">
                  <c:v>45108</c:v>
                </c:pt>
                <c:pt idx="16">
                  <c:v>45139</c:v>
                </c:pt>
                <c:pt idx="17">
                  <c:v>45170</c:v>
                </c:pt>
                <c:pt idx="18">
                  <c:v>45200</c:v>
                </c:pt>
                <c:pt idx="19">
                  <c:v>45231</c:v>
                </c:pt>
                <c:pt idx="20">
                  <c:v>45261</c:v>
                </c:pt>
                <c:pt idx="21">
                  <c:v>45292</c:v>
                </c:pt>
                <c:pt idx="22">
                  <c:v>45323</c:v>
                </c:pt>
                <c:pt idx="23">
                  <c:v>45352</c:v>
                </c:pt>
                <c:pt idx="24">
                  <c:v>45383</c:v>
                </c:pt>
              </c:numCache>
            </c:numRef>
          </c:cat>
          <c:val>
            <c:numRef>
              <c:f>Sheet4!$F$39:$F$63</c:f>
              <c:numCache>
                <c:formatCode>General</c:formatCode>
                <c:ptCount val="25"/>
                <c:pt idx="0">
                  <c:v>0</c:v>
                </c:pt>
                <c:pt idx="1">
                  <c:v>41811</c:v>
                </c:pt>
                <c:pt idx="2">
                  <c:v>34977</c:v>
                </c:pt>
                <c:pt idx="3">
                  <c:v>10383</c:v>
                </c:pt>
                <c:pt idx="4">
                  <c:v>14023</c:v>
                </c:pt>
                <c:pt idx="5">
                  <c:v>30970</c:v>
                </c:pt>
                <c:pt idx="6">
                  <c:v>39013</c:v>
                </c:pt>
                <c:pt idx="7">
                  <c:v>32121</c:v>
                </c:pt>
                <c:pt idx="8">
                  <c:v>19749</c:v>
                </c:pt>
                <c:pt idx="9">
                  <c:v>36287</c:v>
                </c:pt>
                <c:pt idx="10">
                  <c:v>29824</c:v>
                </c:pt>
                <c:pt idx="11">
                  <c:v>35640</c:v>
                </c:pt>
                <c:pt idx="12">
                  <c:v>36096</c:v>
                </c:pt>
                <c:pt idx="13">
                  <c:v>58077</c:v>
                </c:pt>
                <c:pt idx="14">
                  <c:v>29976</c:v>
                </c:pt>
                <c:pt idx="15">
                  <c:v>28244</c:v>
                </c:pt>
                <c:pt idx="16">
                  <c:v>34186</c:v>
                </c:pt>
                <c:pt idx="17">
                  <c:v>19674</c:v>
                </c:pt>
                <c:pt idx="18">
                  <c:v>39055</c:v>
                </c:pt>
                <c:pt idx="19">
                  <c:v>33086</c:v>
                </c:pt>
                <c:pt idx="20">
                  <c:v>29254</c:v>
                </c:pt>
                <c:pt idx="21">
                  <c:v>37024</c:v>
                </c:pt>
                <c:pt idx="22">
                  <c:v>33139</c:v>
                </c:pt>
                <c:pt idx="23">
                  <c:v>43920</c:v>
                </c:pt>
                <c:pt idx="24">
                  <c:v>32585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69618864"/>
        <c:axId val="1469620784"/>
      </c:lineChart>
      <c:dateAx>
        <c:axId val="1469618864"/>
        <c:scaling>
          <c:orientation val="minMax"/>
        </c:scaling>
        <c:delete val="0"/>
        <c:axPos val="b"/>
        <c:numFmt formatCode="mmm\-yy" sourceLinked="0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1469620784"/>
        <c:crosses val="autoZero"/>
        <c:auto val="1"/>
        <c:lblOffset val="100"/>
        <c:baseTimeUnit val="months"/>
      </c:dateAx>
      <c:valAx>
        <c:axId val="14696207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6961886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Tape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Sheet4!$E$2</c:f>
              <c:strCache>
                <c:ptCount val="1"/>
                <c:pt idx="0">
                  <c:v>Ink1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none"/>
          </c:marker>
          <c:dLbls>
            <c:dLbl>
              <c:idx val="24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trendline>
            <c:spPr>
              <a:ln xmlns:a="http://schemas.openxmlformats.org/drawingml/2006/main" w="19050">
                <a:solidFill>
                  <a:srgbClr val="0070C0"/>
                </a:solidFill>
                <a:prstDash val="sysDot"/>
              </a:ln>
            </c:spPr>
            <c:trendlineType val="linear"/>
            <c:dispRSqr val="0"/>
            <c:dispEq val="0"/>
          </c:trendline>
          <c:cat>
            <c:numRef>
              <c:f>Sheet4!$B$39:$B$63</c:f>
              <c:numCache>
                <c:formatCode>mmm\-yy</c:formatCode>
                <c:ptCount val="25"/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  <c:pt idx="13">
                  <c:v>45047</c:v>
                </c:pt>
                <c:pt idx="14">
                  <c:v>45078</c:v>
                </c:pt>
                <c:pt idx="15">
                  <c:v>45108</c:v>
                </c:pt>
                <c:pt idx="16">
                  <c:v>45139</c:v>
                </c:pt>
                <c:pt idx="17">
                  <c:v>45170</c:v>
                </c:pt>
                <c:pt idx="18">
                  <c:v>45200</c:v>
                </c:pt>
                <c:pt idx="19">
                  <c:v>45231</c:v>
                </c:pt>
                <c:pt idx="20">
                  <c:v>45261</c:v>
                </c:pt>
                <c:pt idx="21">
                  <c:v>45292</c:v>
                </c:pt>
                <c:pt idx="22">
                  <c:v>45323</c:v>
                </c:pt>
                <c:pt idx="23">
                  <c:v>45352</c:v>
                </c:pt>
                <c:pt idx="24">
                  <c:v>45383</c:v>
                </c:pt>
              </c:numCache>
            </c:numRef>
          </c:cat>
          <c:val>
            <c:numRef>
              <c:f>Sheet4!$E$39:$E$63</c:f>
              <c:numCache>
                <c:formatCode>General</c:formatCode>
                <c:ptCount val="25"/>
                <c:pt idx="0">
                  <c:v>0</c:v>
                </c:pt>
                <c:pt idx="1">
                  <c:v>27555</c:v>
                </c:pt>
                <c:pt idx="2">
                  <c:v>42648</c:v>
                </c:pt>
                <c:pt idx="3">
                  <c:v>4775</c:v>
                </c:pt>
                <c:pt idx="4">
                  <c:v>14126</c:v>
                </c:pt>
                <c:pt idx="5">
                  <c:v>5797</c:v>
                </c:pt>
                <c:pt idx="6">
                  <c:v>5682</c:v>
                </c:pt>
                <c:pt idx="7">
                  <c:v>10853</c:v>
                </c:pt>
                <c:pt idx="8">
                  <c:v>18257</c:v>
                </c:pt>
                <c:pt idx="9">
                  <c:v>4571</c:v>
                </c:pt>
                <c:pt idx="10">
                  <c:v>9618</c:v>
                </c:pt>
                <c:pt idx="11">
                  <c:v>17326</c:v>
                </c:pt>
                <c:pt idx="12">
                  <c:v>10976</c:v>
                </c:pt>
                <c:pt idx="13">
                  <c:v>10737</c:v>
                </c:pt>
                <c:pt idx="14">
                  <c:v>20933</c:v>
                </c:pt>
                <c:pt idx="15">
                  <c:v>20501</c:v>
                </c:pt>
                <c:pt idx="16">
                  <c:v>13074</c:v>
                </c:pt>
                <c:pt idx="17">
                  <c:v>9778</c:v>
                </c:pt>
                <c:pt idx="18">
                  <c:v>11394</c:v>
                </c:pt>
                <c:pt idx="19">
                  <c:v>11201</c:v>
                </c:pt>
                <c:pt idx="20">
                  <c:v>11104</c:v>
                </c:pt>
                <c:pt idx="21">
                  <c:v>9885</c:v>
                </c:pt>
                <c:pt idx="22">
                  <c:v>18638</c:v>
                </c:pt>
                <c:pt idx="23">
                  <c:v>13973</c:v>
                </c:pt>
                <c:pt idx="24">
                  <c:v>13250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69618864"/>
        <c:axId val="1469620784"/>
      </c:lineChart>
      <c:dateAx>
        <c:axId val="1469618864"/>
        <c:scaling>
          <c:orientation val="minMax"/>
        </c:scaling>
        <c:delete val="0"/>
        <c:axPos val="b"/>
        <c:numFmt formatCode="mmm\-yy" sourceLinked="0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1469620784"/>
        <c:crosses val="autoZero"/>
        <c:auto val="1"/>
        <c:lblOffset val="100"/>
        <c:baseTimeUnit val="months"/>
      </c:dateAx>
      <c:valAx>
        <c:axId val="14696207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6961886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Drum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22952533765855238"/>
          <c:y val="0.10152751849695826"/>
          <c:w val="0.9540949324682895"/>
          <c:h val="0.6496371343025259"/>
        </c:manualLayout>
      </c:layout>
      <c:lineChart>
        <c:grouping val="stacked"/>
        <c:varyColors val="0"/>
        <c:ser>
          <c:idx val="0"/>
          <c:order val="0"/>
          <c:tx>
            <c:strRef>
              <c:f>Sheet8!$A$22</c:f>
              <c:strCache>
                <c:ptCount val="1"/>
                <c:pt idx="0">
                  <c:v>Actual Sales QTY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Sheet8!$B$21:$Z$21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Sheet8!$B$22:$Z$22</c:f>
              <c:numCache>
                <c:formatCode>General</c:formatCode>
                <c:ptCount val="25"/>
                <c:pt idx="0">
                  <c:v>8987</c:v>
                </c:pt>
                <c:pt idx="1">
                  <c:v>4251</c:v>
                </c:pt>
                <c:pt idx="2">
                  <c:v>1025</c:v>
                </c:pt>
                <c:pt idx="3">
                  <c:v>3687</c:v>
                </c:pt>
                <c:pt idx="4">
                  <c:v>3634</c:v>
                </c:pt>
                <c:pt idx="5">
                  <c:v>2783</c:v>
                </c:pt>
                <c:pt idx="6">
                  <c:v>5327</c:v>
                </c:pt>
                <c:pt idx="7">
                  <c:v>2877</c:v>
                </c:pt>
                <c:pt idx="8">
                  <c:v>5762</c:v>
                </c:pt>
                <c:pt idx="9">
                  <c:v>5512</c:v>
                </c:pt>
                <c:pt idx="10">
                  <c:v>1413</c:v>
                </c:pt>
                <c:pt idx="11">
                  <c:v>6809</c:v>
                </c:pt>
                <c:pt idx="12">
                  <c:v>5276</c:v>
                </c:pt>
                <c:pt idx="13">
                  <c:v>3376</c:v>
                </c:pt>
                <c:pt idx="14">
                  <c:v>5755</c:v>
                </c:pt>
                <c:pt idx="15">
                  <c:v>4260</c:v>
                </c:pt>
                <c:pt idx="16">
                  <c:v>3763</c:v>
                </c:pt>
                <c:pt idx="17">
                  <c:v>5705</c:v>
                </c:pt>
                <c:pt idx="18">
                  <c:v>4641</c:v>
                </c:pt>
                <c:pt idx="19">
                  <c:v>3540</c:v>
                </c:pt>
                <c:pt idx="20">
                  <c:v>2855</c:v>
                </c:pt>
                <c:pt idx="21">
                  <c:v>1656</c:v>
                </c:pt>
                <c:pt idx="22">
                  <c:v>3005</c:v>
                </c:pt>
                <c:pt idx="23">
                  <c:v>3383</c:v>
                </c:pt>
                <c:pt idx="24">
                  <c:v>3642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Sheet8!$A$23</c:f>
              <c:strCache>
                <c:ptCount val="1"/>
                <c:pt idx="0">
                  <c:v>Sales Forecast QTY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2"/>
              </a:solidFill>
            </a:ln>
          </c:spPr>
          <c:marker>
            <c:symbol val="none"/>
          </c:marker>
          <c:cat>
            <c:numRef>
              <c:f>Sheet8!$B$21:$Z$21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Sheet8!$B$23:$Z$23</c:f>
              <c:numCache>
                <c:formatCode>General</c:formatCode>
                <c:ptCount val="25"/>
                <c:pt idx="0">
                  <c:v>7569</c:v>
                </c:pt>
                <c:pt idx="1">
                  <c:v>3789</c:v>
                </c:pt>
                <c:pt idx="2">
                  <c:v>4055</c:v>
                </c:pt>
                <c:pt idx="3">
                  <c:v>3476</c:v>
                </c:pt>
                <c:pt idx="4">
                  <c:v>1580</c:v>
                </c:pt>
                <c:pt idx="5">
                  <c:v>4423</c:v>
                </c:pt>
                <c:pt idx="6">
                  <c:v>3174</c:v>
                </c:pt>
                <c:pt idx="7">
                  <c:v>3909</c:v>
                </c:pt>
                <c:pt idx="8">
                  <c:v>3441</c:v>
                </c:pt>
                <c:pt idx="9">
                  <c:v>4180</c:v>
                </c:pt>
                <c:pt idx="10">
                  <c:v>4416</c:v>
                </c:pt>
                <c:pt idx="11">
                  <c:v>6858</c:v>
                </c:pt>
                <c:pt idx="12">
                  <c:v>4573</c:v>
                </c:pt>
                <c:pt idx="13">
                  <c:v>3801</c:v>
                </c:pt>
                <c:pt idx="14">
                  <c:v>3786</c:v>
                </c:pt>
                <c:pt idx="15">
                  <c:v>3797</c:v>
                </c:pt>
                <c:pt idx="16">
                  <c:v>3684</c:v>
                </c:pt>
                <c:pt idx="17">
                  <c:v>4633</c:v>
                </c:pt>
                <c:pt idx="18">
                  <c:v>4726</c:v>
                </c:pt>
                <c:pt idx="19">
                  <c:v>3546</c:v>
                </c:pt>
                <c:pt idx="20">
                  <c:v>3581</c:v>
                </c:pt>
                <c:pt idx="21">
                  <c:v>4417</c:v>
                </c:pt>
                <c:pt idx="22">
                  <c:v>3971</c:v>
                </c:pt>
                <c:pt idx="23">
                  <c:v>3234</c:v>
                </c:pt>
                <c:pt idx="24">
                  <c:v>3990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8161424"/>
        <c:axId val="1468160944"/>
      </c:lineChart>
      <c:dateAx>
        <c:axId val="146816142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8160944"/>
        <c:crosses val="autoZero"/>
        <c:auto val="1"/>
        <c:lblOffset val="100"/>
        <c:baseTimeUnit val="months"/>
      </c:dateAx>
      <c:valAx>
        <c:axId val="14681609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6816142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900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Ink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22952533765855238"/>
          <c:y val="0.10152751849695826"/>
          <c:w val="0.9540949324682895"/>
          <c:h val="0.6496371343025259"/>
        </c:manualLayout>
      </c:layout>
      <c:lineChart>
        <c:grouping val="stacked"/>
        <c:varyColors val="0"/>
        <c:ser>
          <c:idx val="0"/>
          <c:order val="0"/>
          <c:tx>
            <c:strRef>
              <c:f>Sheet8!$A$25</c:f>
              <c:strCache>
                <c:ptCount val="1"/>
                <c:pt idx="0">
                  <c:v>Actual Sales QTY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Sheet8!$B$21:$Z$21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Sheet8!$B$25:$Z$25</c:f>
              <c:numCache>
                <c:formatCode>General</c:formatCode>
                <c:ptCount val="25"/>
                <c:pt idx="0">
                  <c:v>508</c:v>
                </c:pt>
                <c:pt idx="1">
                  <c:v>908</c:v>
                </c:pt>
                <c:pt idx="2">
                  <c:v>395</c:v>
                </c:pt>
                <c:pt idx="3">
                  <c:v>647</c:v>
                </c:pt>
                <c:pt idx="4">
                  <c:v>1291</c:v>
                </c:pt>
                <c:pt idx="5">
                  <c:v>1487</c:v>
                </c:pt>
                <c:pt idx="6">
                  <c:v>1670</c:v>
                </c:pt>
                <c:pt idx="7">
                  <c:v>532</c:v>
                </c:pt>
                <c:pt idx="8">
                  <c:v>1008</c:v>
                </c:pt>
                <c:pt idx="9">
                  <c:v>2702</c:v>
                </c:pt>
                <c:pt idx="10">
                  <c:v>2393</c:v>
                </c:pt>
                <c:pt idx="11">
                  <c:v>1955</c:v>
                </c:pt>
                <c:pt idx="12">
                  <c:v>3683</c:v>
                </c:pt>
                <c:pt idx="13">
                  <c:v>3265</c:v>
                </c:pt>
                <c:pt idx="14">
                  <c:v>2341</c:v>
                </c:pt>
                <c:pt idx="15">
                  <c:v>1819</c:v>
                </c:pt>
                <c:pt idx="16">
                  <c:v>1494</c:v>
                </c:pt>
                <c:pt idx="17">
                  <c:v>1650</c:v>
                </c:pt>
                <c:pt idx="18">
                  <c:v>1277</c:v>
                </c:pt>
                <c:pt idx="19">
                  <c:v>1167</c:v>
                </c:pt>
                <c:pt idx="20">
                  <c:v>2698</c:v>
                </c:pt>
                <c:pt idx="21">
                  <c:v>1411</c:v>
                </c:pt>
                <c:pt idx="22">
                  <c:v>2484</c:v>
                </c:pt>
                <c:pt idx="23">
                  <c:v>2338</c:v>
                </c:pt>
                <c:pt idx="24">
                  <c:v>1439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Sheet8!$A$26</c:f>
              <c:strCache>
                <c:ptCount val="1"/>
                <c:pt idx="0">
                  <c:v>Sales Forecast QTY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2"/>
              </a:solidFill>
            </a:ln>
          </c:spPr>
          <c:marker>
            <c:symbol val="none"/>
          </c:marker>
          <c:cat>
            <c:numRef>
              <c:f>Sheet8!$B$21:$Z$21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Sheet8!$B$26:$Z$26</c:f>
              <c:numCache>
                <c:formatCode>General</c:formatCode>
                <c:ptCount val="25"/>
                <c:pt idx="0">
                  <c:v>718</c:v>
                </c:pt>
                <c:pt idx="1">
                  <c:v>1047</c:v>
                </c:pt>
                <c:pt idx="2">
                  <c:v>826</c:v>
                </c:pt>
                <c:pt idx="3">
                  <c:v>712</c:v>
                </c:pt>
                <c:pt idx="4">
                  <c:v>341</c:v>
                </c:pt>
                <c:pt idx="5">
                  <c:v>533</c:v>
                </c:pt>
                <c:pt idx="6">
                  <c:v>1243</c:v>
                </c:pt>
                <c:pt idx="7">
                  <c:v>1271</c:v>
                </c:pt>
                <c:pt idx="8">
                  <c:v>1302</c:v>
                </c:pt>
                <c:pt idx="9">
                  <c:v>2546</c:v>
                </c:pt>
                <c:pt idx="10">
                  <c:v>2025</c:v>
                </c:pt>
                <c:pt idx="11">
                  <c:v>4423</c:v>
                </c:pt>
                <c:pt idx="12">
                  <c:v>4276</c:v>
                </c:pt>
                <c:pt idx="13">
                  <c:v>2773</c:v>
                </c:pt>
                <c:pt idx="14">
                  <c:v>3311</c:v>
                </c:pt>
                <c:pt idx="15">
                  <c:v>3559</c:v>
                </c:pt>
                <c:pt idx="16">
                  <c:v>2915</c:v>
                </c:pt>
                <c:pt idx="17">
                  <c:v>2731</c:v>
                </c:pt>
                <c:pt idx="18">
                  <c:v>2415</c:v>
                </c:pt>
                <c:pt idx="19">
                  <c:v>1708</c:v>
                </c:pt>
                <c:pt idx="20">
                  <c:v>1419</c:v>
                </c:pt>
                <c:pt idx="21">
                  <c:v>1866</c:v>
                </c:pt>
                <c:pt idx="22">
                  <c:v>1657</c:v>
                </c:pt>
                <c:pt idx="23">
                  <c:v>1412</c:v>
                </c:pt>
                <c:pt idx="24">
                  <c:v>1710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8161424"/>
        <c:axId val="1468160944"/>
      </c:lineChart>
      <c:dateAx>
        <c:axId val="146816142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8160944"/>
        <c:crosses val="autoZero"/>
        <c:auto val="1"/>
        <c:lblOffset val="100"/>
        <c:baseTimeUnit val="months"/>
      </c:dateAx>
      <c:valAx>
        <c:axId val="14681609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6816142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900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7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Toner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22952533765855238"/>
          <c:y val="0.10152751849695826"/>
          <c:w val="0.9540949324682895"/>
          <c:h val="0.6496371343025259"/>
        </c:manualLayout>
      </c:layout>
      <c:lineChart>
        <c:grouping val="stacked"/>
        <c:varyColors val="0"/>
        <c:ser>
          <c:idx val="0"/>
          <c:order val="0"/>
          <c:tx>
            <c:strRef>
              <c:f>Sheet8!$A$31</c:f>
              <c:strCache>
                <c:ptCount val="1"/>
                <c:pt idx="0">
                  <c:v>Actual Sales QTY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Sheet8!$B$21:$Z$21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Sheet8!$B$31:$Z$31</c:f>
              <c:numCache>
                <c:formatCode>General</c:formatCode>
                <c:ptCount val="25"/>
                <c:pt idx="0">
                  <c:v>41811</c:v>
                </c:pt>
                <c:pt idx="1">
                  <c:v>34977</c:v>
                </c:pt>
                <c:pt idx="2">
                  <c:v>10383</c:v>
                </c:pt>
                <c:pt idx="3">
                  <c:v>14023</c:v>
                </c:pt>
                <c:pt idx="4">
                  <c:v>30970</c:v>
                </c:pt>
                <c:pt idx="5">
                  <c:v>39013</c:v>
                </c:pt>
                <c:pt idx="6">
                  <c:v>32121</c:v>
                </c:pt>
                <c:pt idx="7">
                  <c:v>19749</c:v>
                </c:pt>
                <c:pt idx="8">
                  <c:v>36287</c:v>
                </c:pt>
                <c:pt idx="9">
                  <c:v>29824</c:v>
                </c:pt>
                <c:pt idx="10">
                  <c:v>35640</c:v>
                </c:pt>
                <c:pt idx="11">
                  <c:v>36096</c:v>
                </c:pt>
                <c:pt idx="12">
                  <c:v>58077</c:v>
                </c:pt>
                <c:pt idx="13">
                  <c:v>29976</c:v>
                </c:pt>
                <c:pt idx="14">
                  <c:v>28244</c:v>
                </c:pt>
                <c:pt idx="15">
                  <c:v>34186</c:v>
                </c:pt>
                <c:pt idx="16">
                  <c:v>19674</c:v>
                </c:pt>
                <c:pt idx="17">
                  <c:v>39055</c:v>
                </c:pt>
                <c:pt idx="18">
                  <c:v>33086</c:v>
                </c:pt>
                <c:pt idx="19">
                  <c:v>29254</c:v>
                </c:pt>
                <c:pt idx="20">
                  <c:v>37024</c:v>
                </c:pt>
                <c:pt idx="21">
                  <c:v>33139</c:v>
                </c:pt>
                <c:pt idx="22">
                  <c:v>43920</c:v>
                </c:pt>
                <c:pt idx="23">
                  <c:v>32585</c:v>
                </c:pt>
                <c:pt idx="24">
                  <c:v>18897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Sheet8!$A$32</c:f>
              <c:strCache>
                <c:ptCount val="1"/>
                <c:pt idx="0">
                  <c:v>Sales Forecast QTY</c:v>
                </c:pt>
              </c:strCache>
            </c:strRef>
          </c:tx>
          <c:spPr>
            <a:ln xmlns:a="http://schemas.openxmlformats.org/drawingml/2006/main" w="28575">
              <a:solidFill>
                <a:srgbClr val="00B0F0"/>
              </a:solidFill>
            </a:ln>
          </c:spPr>
          <c:marker>
            <c:symbol val="none"/>
          </c:marker>
          <c:cat>
            <c:numRef>
              <c:f>Sheet8!$B$21:$Z$21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Sheet8!$B$32:$Z$32</c:f>
              <c:numCache>
                <c:formatCode>General</c:formatCode>
                <c:ptCount val="25"/>
                <c:pt idx="0">
                  <c:v>43048</c:v>
                </c:pt>
                <c:pt idx="1">
                  <c:v>38196</c:v>
                </c:pt>
                <c:pt idx="2">
                  <c:v>34553</c:v>
                </c:pt>
                <c:pt idx="3">
                  <c:v>33868</c:v>
                </c:pt>
                <c:pt idx="4">
                  <c:v>14981</c:v>
                </c:pt>
                <c:pt idx="5">
                  <c:v>31392</c:v>
                </c:pt>
                <c:pt idx="6">
                  <c:v>25678</c:v>
                </c:pt>
                <c:pt idx="7">
                  <c:v>30798</c:v>
                </c:pt>
                <c:pt idx="8">
                  <c:v>30930</c:v>
                </c:pt>
                <c:pt idx="9">
                  <c:v>31855</c:v>
                </c:pt>
                <c:pt idx="10">
                  <c:v>34862</c:v>
                </c:pt>
                <c:pt idx="11">
                  <c:v>30838</c:v>
                </c:pt>
                <c:pt idx="12">
                  <c:v>33092</c:v>
                </c:pt>
                <c:pt idx="13">
                  <c:v>28893</c:v>
                </c:pt>
                <c:pt idx="14">
                  <c:v>30306</c:v>
                </c:pt>
                <c:pt idx="15">
                  <c:v>29370</c:v>
                </c:pt>
                <c:pt idx="16">
                  <c:v>29102</c:v>
                </c:pt>
                <c:pt idx="17">
                  <c:v>33134</c:v>
                </c:pt>
                <c:pt idx="18">
                  <c:v>34771</c:v>
                </c:pt>
                <c:pt idx="19">
                  <c:v>28158</c:v>
                </c:pt>
                <c:pt idx="20">
                  <c:v>28251</c:v>
                </c:pt>
                <c:pt idx="21">
                  <c:v>34634</c:v>
                </c:pt>
                <c:pt idx="22">
                  <c:v>29396</c:v>
                </c:pt>
                <c:pt idx="23">
                  <c:v>28562</c:v>
                </c:pt>
                <c:pt idx="24">
                  <c:v>35449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8161424"/>
        <c:axId val="1468160944"/>
      </c:lineChart>
      <c:dateAx>
        <c:axId val="146816142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8160944"/>
        <c:crosses val="autoZero"/>
        <c:auto val="1"/>
        <c:lblOffset val="100"/>
        <c:baseTimeUnit val="months"/>
      </c:dateAx>
      <c:valAx>
        <c:axId val="14681609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6816142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900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8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Tape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22952533765855238"/>
          <c:y val="0.10152751849695826"/>
          <c:w val="0.9540949324682895"/>
          <c:h val="0.6496371343025259"/>
        </c:manualLayout>
      </c:layout>
      <c:lineChart>
        <c:grouping val="stacked"/>
        <c:varyColors val="0"/>
        <c:ser>
          <c:idx val="0"/>
          <c:order val="0"/>
          <c:tx>
            <c:strRef>
              <c:f>Sheet8!$A$28</c:f>
              <c:strCache>
                <c:ptCount val="1"/>
                <c:pt idx="0">
                  <c:v>Actual Sales QTY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Sheet8!$B$21:$Z$21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Sheet8!$B$28:$Z$28</c:f>
              <c:numCache>
                <c:formatCode>General</c:formatCode>
                <c:ptCount val="25"/>
                <c:pt idx="0">
                  <c:v>27555</c:v>
                </c:pt>
                <c:pt idx="1">
                  <c:v>42648</c:v>
                </c:pt>
                <c:pt idx="2">
                  <c:v>4775</c:v>
                </c:pt>
                <c:pt idx="3">
                  <c:v>14126</c:v>
                </c:pt>
                <c:pt idx="4">
                  <c:v>5797</c:v>
                </c:pt>
                <c:pt idx="5">
                  <c:v>5682</c:v>
                </c:pt>
                <c:pt idx="6">
                  <c:v>10853</c:v>
                </c:pt>
                <c:pt idx="7">
                  <c:v>18257</c:v>
                </c:pt>
                <c:pt idx="8">
                  <c:v>4571</c:v>
                </c:pt>
                <c:pt idx="9">
                  <c:v>9618</c:v>
                </c:pt>
                <c:pt idx="10">
                  <c:v>17326</c:v>
                </c:pt>
                <c:pt idx="11">
                  <c:v>10976</c:v>
                </c:pt>
                <c:pt idx="12">
                  <c:v>10737</c:v>
                </c:pt>
                <c:pt idx="13">
                  <c:v>20933</c:v>
                </c:pt>
                <c:pt idx="14">
                  <c:v>20501</c:v>
                </c:pt>
                <c:pt idx="15">
                  <c:v>13074</c:v>
                </c:pt>
                <c:pt idx="16">
                  <c:v>9778</c:v>
                </c:pt>
                <c:pt idx="17">
                  <c:v>11394</c:v>
                </c:pt>
                <c:pt idx="18">
                  <c:v>11201</c:v>
                </c:pt>
                <c:pt idx="19">
                  <c:v>11104</c:v>
                </c:pt>
                <c:pt idx="20">
                  <c:v>9885</c:v>
                </c:pt>
                <c:pt idx="21">
                  <c:v>18638</c:v>
                </c:pt>
                <c:pt idx="22">
                  <c:v>13973</c:v>
                </c:pt>
                <c:pt idx="23">
                  <c:v>13250</c:v>
                </c:pt>
                <c:pt idx="24">
                  <c:v>12230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Sheet8!$A$29</c:f>
              <c:strCache>
                <c:ptCount val="1"/>
                <c:pt idx="0">
                  <c:v>Sales Forecast QTY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2"/>
              </a:solidFill>
            </a:ln>
          </c:spPr>
          <c:marker>
            <c:symbol val="none"/>
          </c:marker>
          <c:cat>
            <c:numRef>
              <c:f>Sheet8!$B$21:$Z$21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Sheet8!$B$29:$Z$29</c:f>
              <c:numCache>
                <c:formatCode>General</c:formatCode>
                <c:ptCount val="25"/>
                <c:pt idx="0">
                  <c:v>34425</c:v>
                </c:pt>
                <c:pt idx="1">
                  <c:v>50453</c:v>
                </c:pt>
                <c:pt idx="2">
                  <c:v>14000</c:v>
                </c:pt>
                <c:pt idx="3">
                  <c:v>18769</c:v>
                </c:pt>
                <c:pt idx="4">
                  <c:v>14111</c:v>
                </c:pt>
                <c:pt idx="5">
                  <c:v>19535</c:v>
                </c:pt>
                <c:pt idx="6">
                  <c:v>13693</c:v>
                </c:pt>
                <c:pt idx="7">
                  <c:v>16687</c:v>
                </c:pt>
                <c:pt idx="8">
                  <c:v>11751</c:v>
                </c:pt>
                <c:pt idx="9">
                  <c:v>15625</c:v>
                </c:pt>
                <c:pt idx="10">
                  <c:v>13378</c:v>
                </c:pt>
                <c:pt idx="11">
                  <c:v>11472</c:v>
                </c:pt>
                <c:pt idx="12">
                  <c:v>13879</c:v>
                </c:pt>
                <c:pt idx="13">
                  <c:v>16035</c:v>
                </c:pt>
                <c:pt idx="14">
                  <c:v>15416</c:v>
                </c:pt>
                <c:pt idx="15">
                  <c:v>15976</c:v>
                </c:pt>
                <c:pt idx="16">
                  <c:v>12835</c:v>
                </c:pt>
                <c:pt idx="17">
                  <c:v>9348</c:v>
                </c:pt>
                <c:pt idx="18">
                  <c:v>13748</c:v>
                </c:pt>
                <c:pt idx="19">
                  <c:v>7519</c:v>
                </c:pt>
                <c:pt idx="20">
                  <c:v>7521</c:v>
                </c:pt>
                <c:pt idx="21">
                  <c:v>12587</c:v>
                </c:pt>
                <c:pt idx="22">
                  <c:v>12504</c:v>
                </c:pt>
                <c:pt idx="23">
                  <c:v>10902</c:v>
                </c:pt>
                <c:pt idx="24">
                  <c:v>15850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8161424"/>
        <c:axId val="1468160944"/>
      </c:lineChart>
      <c:dateAx>
        <c:axId val="146816142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8160944"/>
        <c:crosses val="autoZero"/>
        <c:auto val="1"/>
        <c:lblOffset val="100"/>
        <c:baseTimeUnit val="months"/>
      </c:dateAx>
      <c:valAx>
        <c:axId val="14681609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6816142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900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9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861112026268683"/>
          <c:y val="0.040654754221296115"/>
          <c:w val="0.9025117048653437"/>
          <c:h val="0.854606207011008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'[case data final.xlsx]Sheet13'!$H$2</c:f>
              <c:strCache>
                <c:ptCount val="1"/>
                <c:pt idx="0">
                  <c:v>MAPE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'[case data final.xlsx]Sheet13'!$F$3:$F$13</c:f>
              <c:strCache>
                <c:ptCount val="11"/>
                <c:pt idx="0">
                  <c:v>Drum1</c:v>
                </c:pt>
                <c:pt idx="1">
                  <c:v>Drum2</c:v>
                </c:pt>
                <c:pt idx="2">
                  <c:v>Ink1</c:v>
                </c:pt>
                <c:pt idx="3">
                  <c:v>Ink2</c:v>
                </c:pt>
                <c:pt idx="4">
                  <c:v>Tape1</c:v>
                </c:pt>
                <c:pt idx="5">
                  <c:v>Tape2</c:v>
                </c:pt>
                <c:pt idx="6">
                  <c:v>Tape3</c:v>
                </c:pt>
                <c:pt idx="7">
                  <c:v>Toner1</c:v>
                </c:pt>
                <c:pt idx="8">
                  <c:v>Toner2</c:v>
                </c:pt>
                <c:pt idx="9">
                  <c:v>Toner3</c:v>
                </c:pt>
                <c:pt idx="10">
                  <c:v>Toner4</c:v>
                </c:pt>
              </c:strCache>
            </c:strRef>
          </c:cat>
          <c:val>
            <c:numRef>
              <c:f>'[case data final.xlsx]Sheet13'!$H$3:$H$13</c:f>
              <c:numCache>
                <c:formatCode>0%</c:formatCode>
                <c:ptCount val="11"/>
                <c:pt idx="0">
                  <c:v>0.6898018515874605</c:v>
                </c:pt>
                <c:pt idx="1">
                  <c:v>0.5748279104397223</c:v>
                </c:pt>
                <c:pt idx="2">
                  <c:v>0.5801696194711827</c:v>
                </c:pt>
                <c:pt idx="3">
                  <c:v>0.5640006326560024</c:v>
                </c:pt>
                <c:pt idx="4">
                  <c:v>0.605266766871615</c:v>
                </c:pt>
                <c:pt idx="5">
                  <c:v>0.4888369551147671</c:v>
                </c:pt>
                <c:pt idx="6">
                  <c:v>1.1785221914855173</c:v>
                </c:pt>
                <c:pt idx="7">
                  <c:v>1.5591165368521644</c:v>
                </c:pt>
                <c:pt idx="8">
                  <c:v>0.38835668313477933</c:v>
                </c:pt>
                <c:pt idx="9">
                  <c:v>0.37398912072148494</c:v>
                </c:pt>
                <c:pt idx="10">
                  <c:v>0.38487456762976313</c:v>
                </c:pt>
              </c:numCache>
            </c:numRef>
          </c:val>
        </c:ser>
        <c:ser>
          <c:idx val="1"/>
          <c:order val="1"/>
          <c:tx>
            <c:strRef>
              <c:f>'[case data final.xlsx]Sheet13'!$I$2</c:f>
              <c:strCache>
                <c:ptCount val="1"/>
                <c:pt idx="0">
                  <c:v>Forecast Accuracy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0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'[case data final.xlsx]Sheet13'!$F$3:$F$13</c:f>
              <c:strCache>
                <c:ptCount val="11"/>
                <c:pt idx="0">
                  <c:v>Drum1</c:v>
                </c:pt>
                <c:pt idx="1">
                  <c:v>Drum2</c:v>
                </c:pt>
                <c:pt idx="2">
                  <c:v>Ink1</c:v>
                </c:pt>
                <c:pt idx="3">
                  <c:v>Ink2</c:v>
                </c:pt>
                <c:pt idx="4">
                  <c:v>Tape1</c:v>
                </c:pt>
                <c:pt idx="5">
                  <c:v>Tape2</c:v>
                </c:pt>
                <c:pt idx="6">
                  <c:v>Tape3</c:v>
                </c:pt>
                <c:pt idx="7">
                  <c:v>Toner1</c:v>
                </c:pt>
                <c:pt idx="8">
                  <c:v>Toner2</c:v>
                </c:pt>
                <c:pt idx="9">
                  <c:v>Toner3</c:v>
                </c:pt>
                <c:pt idx="10">
                  <c:v>Toner4</c:v>
                </c:pt>
              </c:strCache>
            </c:strRef>
          </c:cat>
          <c:val>
            <c:numRef>
              <c:f>'[case data final.xlsx]Sheet13'!$I$3:$I$13</c:f>
              <c:numCache>
                <c:formatCode>0%</c:formatCode>
                <c:ptCount val="11"/>
                <c:pt idx="0">
                  <c:v>0.31019814841253945</c:v>
                </c:pt>
                <c:pt idx="1">
                  <c:v>0.42517208956027774</c:v>
                </c:pt>
                <c:pt idx="2">
                  <c:v>0.41983038052881727</c:v>
                </c:pt>
                <c:pt idx="3">
                  <c:v>0.4359993673439976</c:v>
                </c:pt>
                <c:pt idx="4">
                  <c:v>0.39473323312838504</c:v>
                </c:pt>
                <c:pt idx="5">
                  <c:v>0.5111630448852329</c:v>
                </c:pt>
                <c:pt idx="6">
                  <c:v>-0.1785221914855173</c:v>
                </c:pt>
                <c:pt idx="7">
                  <c:v>-0.5591165368521644</c:v>
                </c:pt>
                <c:pt idx="8">
                  <c:v>0.6116433168652207</c:v>
                </c:pt>
                <c:pt idx="9">
                  <c:v>0.6260108792785151</c:v>
                </c:pt>
                <c:pt idx="10">
                  <c:v>0.6151254323702369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100"/>
        <c:axId val="1469165904"/>
        <c:axId val="1469173584"/>
      </c:barChart>
      <c:catAx>
        <c:axId val="1469165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1469173584"/>
        <c:crosses val="autoZero"/>
        <c:lblOffset val="100"/>
      </c:catAx>
      <c:valAx>
        <c:axId val="146917358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46916590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r"/>
      <c:layout>
        <c:manualLayout>
          <c:xMode val="edge"/>
          <c:yMode val="edge"/>
          <c:x val="0.114977615245793"/>
          <c:y val="0.10255815005882886"/>
          <c:w val="0.3870503007207781"/>
          <c:h val="0.1029826228617974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ysClr val="windowText" lastClr="000000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0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323702854102214"/>
          <c:y val="0.03606121393170795"/>
          <c:w val="0.8690389641477226"/>
          <c:h val="0.785909887273209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'[case data final.xlsx]Sheet13'!$C$2</c:f>
              <c:strCache>
                <c:ptCount val="1"/>
                <c:pt idx="0">
                  <c:v>MAPE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'[case data final.xlsx]Sheet13'!$B$3:$B$6</c:f>
              <c:strCache>
                <c:ptCount val="4"/>
                <c:pt idx="0">
                  <c:v>Drum</c:v>
                </c:pt>
                <c:pt idx="1">
                  <c:v>Ink</c:v>
                </c:pt>
                <c:pt idx="2">
                  <c:v>Tape</c:v>
                </c:pt>
                <c:pt idx="3">
                  <c:v>Toner</c:v>
                </c:pt>
              </c:strCache>
            </c:strRef>
          </c:cat>
          <c:val>
            <c:numRef>
              <c:f>'[case data final.xlsx]Sheet13'!$C$3:$C$6</c:f>
              <c:numCache>
                <c:formatCode>0%</c:formatCode>
                <c:ptCount val="4"/>
                <c:pt idx="0">
                  <c:v>0.45182351003420906</c:v>
                </c:pt>
                <c:pt idx="1">
                  <c:v>0.5161342568253576</c:v>
                </c:pt>
                <c:pt idx="2">
                  <c:v>0.5024987680873819</c:v>
                </c:pt>
                <c:pt idx="3">
                  <c:v>0.34924364978044886</c:v>
                </c:pt>
              </c:numCache>
            </c:numRef>
          </c:val>
        </c:ser>
        <c:ser>
          <c:idx val="1"/>
          <c:order val="1"/>
          <c:tx>
            <c:strRef>
              <c:f>'[case data final.xlsx]Sheet13'!$D$2</c:f>
              <c:strCache>
                <c:ptCount val="1"/>
                <c:pt idx="0">
                  <c:v>Forecast Accuracy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'[case data final.xlsx]Sheet13'!$D$3:$D$6</c:f>
              <c:numCache>
                <c:formatCode>0%</c:formatCode>
                <c:ptCount val="4"/>
                <c:pt idx="0">
                  <c:v>0.5481764899657909</c:v>
                </c:pt>
                <c:pt idx="1">
                  <c:v>0.48386574317464237</c:v>
                </c:pt>
                <c:pt idx="2">
                  <c:v>0.4975012319126181</c:v>
                </c:pt>
                <c:pt idx="3">
                  <c:v>0.6507563502195511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1469165904"/>
        <c:axId val="1469173584"/>
      </c:barChart>
      <c:catAx>
        <c:axId val="1469165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1469173584"/>
        <c:crosses val="autoZero"/>
        <c:lblOffset val="100"/>
      </c:catAx>
      <c:valAx>
        <c:axId val="146917358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46916590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r"/>
      <c:layout>
        <c:manualLayout>
          <c:xMode val="edge"/>
          <c:yMode val="edge"/>
          <c:x val="0.25518363559378404"/>
          <c:y val="0.021648989302794533"/>
          <c:w val="0.45988891739734405"/>
          <c:h val="0.10989086493792573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ysClr val="windowText" lastClr="000000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Toner4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Sheet4!$M$2</c:f>
              <c:strCache>
                <c:ptCount val="1"/>
                <c:pt idx="0">
                  <c:v>Toner4</c:v>
                </c:pt>
              </c:strCache>
            </c:strRef>
          </c:tx>
          <c:spPr>
            <a:ln xmlns:a="http://schemas.openxmlformats.org/drawingml/2006/main" w="28575">
              <a:solidFill>
                <a:srgbClr val="00B0F0"/>
              </a:solidFill>
            </a:ln>
          </c:spPr>
          <c:marker>
            <c:symbol val="none"/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trendline>
            <c:spPr>
              <a:ln xmlns:a="http://schemas.openxmlformats.org/drawingml/2006/main" w="19050">
                <a:solidFill>
                  <a:schemeClr val="accent1"/>
                </a:solidFill>
                <a:prstDash val="sysDot"/>
              </a:ln>
            </c:spPr>
            <c:trendlineType val="linear"/>
            <c:dispRSqr val="0"/>
            <c:dispEq val="0"/>
          </c:trendline>
          <c:cat>
            <c:numRef>
              <c:f>Sheet4!$B$3:$B$27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Sheet4!$M$3:$M$27</c:f>
              <c:numCache>
                <c:formatCode>General</c:formatCode>
                <c:ptCount val="25"/>
                <c:pt idx="0">
                  <c:v>35926</c:v>
                </c:pt>
                <c:pt idx="1">
                  <c:v>31079</c:v>
                </c:pt>
                <c:pt idx="2">
                  <c:v>8052</c:v>
                </c:pt>
                <c:pt idx="3">
                  <c:v>11393</c:v>
                </c:pt>
                <c:pt idx="4">
                  <c:v>25085</c:v>
                </c:pt>
                <c:pt idx="5">
                  <c:v>33365</c:v>
                </c:pt>
                <c:pt idx="6">
                  <c:v>23509</c:v>
                </c:pt>
                <c:pt idx="7">
                  <c:v>14256</c:v>
                </c:pt>
                <c:pt idx="8">
                  <c:v>31402</c:v>
                </c:pt>
                <c:pt idx="9">
                  <c:v>23140</c:v>
                </c:pt>
                <c:pt idx="10">
                  <c:v>29952</c:v>
                </c:pt>
                <c:pt idx="11">
                  <c:v>26352</c:v>
                </c:pt>
                <c:pt idx="12">
                  <c:v>51034</c:v>
                </c:pt>
                <c:pt idx="13">
                  <c:v>25481</c:v>
                </c:pt>
                <c:pt idx="14">
                  <c:v>20752</c:v>
                </c:pt>
                <c:pt idx="15">
                  <c:v>26345</c:v>
                </c:pt>
                <c:pt idx="16">
                  <c:v>15382</c:v>
                </c:pt>
                <c:pt idx="17">
                  <c:v>30147</c:v>
                </c:pt>
                <c:pt idx="18">
                  <c:v>24756</c:v>
                </c:pt>
                <c:pt idx="19">
                  <c:v>23031</c:v>
                </c:pt>
                <c:pt idx="20">
                  <c:v>28213</c:v>
                </c:pt>
                <c:pt idx="21">
                  <c:v>27343</c:v>
                </c:pt>
                <c:pt idx="22">
                  <c:v>35066</c:v>
                </c:pt>
                <c:pt idx="23">
                  <c:v>25016</c:v>
                </c:pt>
                <c:pt idx="24">
                  <c:v>14007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69618864"/>
        <c:axId val="1469620784"/>
      </c:lineChart>
      <c:dateAx>
        <c:axId val="146961886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9620784"/>
        <c:crosses val="autoZero"/>
        <c:auto val="1"/>
        <c:lblOffset val="100"/>
        <c:baseTimeUnit val="months"/>
      </c:dateAx>
      <c:valAx>
        <c:axId val="1469620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961886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Tape1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Sheet4!$G$2</c:f>
              <c:strCache>
                <c:ptCount val="1"/>
                <c:pt idx="0">
                  <c:v>Tape1</c:v>
                </c:pt>
              </c:strCache>
            </c:strRef>
          </c:tx>
          <c:spPr>
            <a:ln xmlns:a="http://schemas.openxmlformats.org/drawingml/2006/main" w="28575">
              <a:solidFill>
                <a:srgbClr val="0070C0"/>
              </a:solidFill>
            </a:ln>
          </c:spPr>
          <c:marker>
            <c:symbol val="none"/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trendline>
            <c:spPr>
              <a:ln xmlns:a="http://schemas.openxmlformats.org/drawingml/2006/main" w="19050">
                <a:solidFill>
                  <a:schemeClr val="accent1"/>
                </a:solidFill>
                <a:prstDash val="sysDot"/>
              </a:ln>
            </c:spPr>
            <c:trendlineType val="linear"/>
            <c:dispRSqr val="0"/>
            <c:dispEq val="0"/>
          </c:trendline>
          <c:trendline>
            <c:spPr>
              <a:ln xmlns:a="http://schemas.openxmlformats.org/drawingml/2006/main" w="19050">
                <a:solidFill>
                  <a:schemeClr val="accent1"/>
                </a:solidFill>
                <a:prstDash val="sysDot"/>
              </a:ln>
            </c:spPr>
            <c:trendlineType val="linear"/>
            <c:dispRSqr val="0"/>
            <c:dispEq val="0"/>
          </c:trendline>
          <c:cat>
            <c:numRef>
              <c:f>Sheet4!$B$3:$B$27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Sheet4!$G$3:$G$27</c:f>
              <c:numCache>
                <c:formatCode>General</c:formatCode>
                <c:ptCount val="25"/>
                <c:pt idx="0">
                  <c:v>20868</c:v>
                </c:pt>
                <c:pt idx="1">
                  <c:v>34302</c:v>
                </c:pt>
                <c:pt idx="2">
                  <c:v>3244</c:v>
                </c:pt>
                <c:pt idx="3">
                  <c:v>11541</c:v>
                </c:pt>
                <c:pt idx="4">
                  <c:v>4332</c:v>
                </c:pt>
                <c:pt idx="5">
                  <c:v>2990</c:v>
                </c:pt>
                <c:pt idx="6">
                  <c:v>6632</c:v>
                </c:pt>
                <c:pt idx="7">
                  <c:v>14812</c:v>
                </c:pt>
                <c:pt idx="8">
                  <c:v>3313</c:v>
                </c:pt>
                <c:pt idx="9">
                  <c:v>7559</c:v>
                </c:pt>
                <c:pt idx="10">
                  <c:v>15182</c:v>
                </c:pt>
                <c:pt idx="11">
                  <c:v>8657</c:v>
                </c:pt>
                <c:pt idx="12">
                  <c:v>8002</c:v>
                </c:pt>
                <c:pt idx="13">
                  <c:v>18482</c:v>
                </c:pt>
                <c:pt idx="14">
                  <c:v>16553</c:v>
                </c:pt>
                <c:pt idx="15">
                  <c:v>10634</c:v>
                </c:pt>
                <c:pt idx="16">
                  <c:v>7327</c:v>
                </c:pt>
                <c:pt idx="17">
                  <c:v>9438</c:v>
                </c:pt>
                <c:pt idx="18">
                  <c:v>8662</c:v>
                </c:pt>
                <c:pt idx="19">
                  <c:v>8125</c:v>
                </c:pt>
                <c:pt idx="20">
                  <c:v>7448</c:v>
                </c:pt>
                <c:pt idx="21">
                  <c:v>14270</c:v>
                </c:pt>
                <c:pt idx="22">
                  <c:v>10291</c:v>
                </c:pt>
                <c:pt idx="23">
                  <c:v>10558</c:v>
                </c:pt>
                <c:pt idx="24">
                  <c:v>9803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9618864"/>
        <c:axId val="1469620784"/>
      </c:lineChart>
      <c:dateAx>
        <c:axId val="146961886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9620784"/>
        <c:crosses val="autoZero"/>
        <c:auto val="1"/>
        <c:lblOffset val="100"/>
        <c:baseTimeUnit val="months"/>
      </c:dateAx>
      <c:valAx>
        <c:axId val="1469620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961886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Toner3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Sheet4!$L$2</c:f>
              <c:strCache>
                <c:ptCount val="1"/>
                <c:pt idx="0">
                  <c:v>Toner3</c:v>
                </c:pt>
              </c:strCache>
            </c:strRef>
          </c:tx>
          <c:spPr>
            <a:ln xmlns:a="http://schemas.openxmlformats.org/drawingml/2006/main" w="28575">
              <a:solidFill>
                <a:srgbClr val="00B0F0"/>
              </a:solidFill>
            </a:ln>
          </c:spPr>
          <c:marker>
            <c:symbol val="none"/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trendline>
            <c:spPr>
              <a:ln xmlns:a="http://schemas.openxmlformats.org/drawingml/2006/main" w="19050">
                <a:solidFill>
                  <a:srgbClr val="00B0F0"/>
                </a:solidFill>
                <a:prstDash val="sysDot"/>
              </a:ln>
            </c:spPr>
            <c:trendlineType val="linear"/>
            <c:dispRSqr val="0"/>
            <c:dispEq val="0"/>
          </c:trendline>
          <c:cat>
            <c:numRef>
              <c:f>Sheet4!$B$3:$B$27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Sheet4!$L$3:$L$27</c:f>
              <c:numCache>
                <c:formatCode>General</c:formatCode>
                <c:ptCount val="25"/>
                <c:pt idx="0">
                  <c:v>3857</c:v>
                </c:pt>
                <c:pt idx="1">
                  <c:v>2365</c:v>
                </c:pt>
                <c:pt idx="2">
                  <c:v>1809</c:v>
                </c:pt>
                <c:pt idx="3">
                  <c:v>1890</c:v>
                </c:pt>
                <c:pt idx="4">
                  <c:v>4194</c:v>
                </c:pt>
                <c:pt idx="5">
                  <c:v>4438</c:v>
                </c:pt>
                <c:pt idx="6">
                  <c:v>7049</c:v>
                </c:pt>
                <c:pt idx="7">
                  <c:v>3893</c:v>
                </c:pt>
                <c:pt idx="8">
                  <c:v>3814</c:v>
                </c:pt>
                <c:pt idx="9">
                  <c:v>4183</c:v>
                </c:pt>
                <c:pt idx="10">
                  <c:v>3452</c:v>
                </c:pt>
                <c:pt idx="11">
                  <c:v>5939</c:v>
                </c:pt>
                <c:pt idx="12">
                  <c:v>5154</c:v>
                </c:pt>
                <c:pt idx="13">
                  <c:v>3227</c:v>
                </c:pt>
                <c:pt idx="14">
                  <c:v>5753</c:v>
                </c:pt>
                <c:pt idx="15">
                  <c:v>5731</c:v>
                </c:pt>
                <c:pt idx="16">
                  <c:v>2633</c:v>
                </c:pt>
                <c:pt idx="17">
                  <c:v>6432</c:v>
                </c:pt>
                <c:pt idx="18">
                  <c:v>6143</c:v>
                </c:pt>
                <c:pt idx="19">
                  <c:v>4561</c:v>
                </c:pt>
                <c:pt idx="20">
                  <c:v>7559</c:v>
                </c:pt>
                <c:pt idx="21">
                  <c:v>4252</c:v>
                </c:pt>
                <c:pt idx="22">
                  <c:v>6911</c:v>
                </c:pt>
                <c:pt idx="23">
                  <c:v>5398</c:v>
                </c:pt>
                <c:pt idx="24">
                  <c:v>3525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69618864"/>
        <c:axId val="1469620784"/>
      </c:lineChart>
      <c:dateAx>
        <c:axId val="146961886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9620784"/>
        <c:crosses val="autoZero"/>
        <c:auto val="1"/>
        <c:lblOffset val="100"/>
        <c:baseTimeUnit val="months"/>
      </c:dateAx>
      <c:valAx>
        <c:axId val="1469620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961886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4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Drum2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Sheet4!$D$2</c:f>
              <c:strCache>
                <c:ptCount val="1"/>
                <c:pt idx="0">
                  <c:v>Drum2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2"/>
              </a:solidFill>
            </a:ln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trendline>
            <c:spPr>
              <a:ln xmlns:a="http://schemas.openxmlformats.org/drawingml/2006/main" w="19050">
                <a:solidFill>
                  <a:schemeClr val="accent1"/>
                </a:solidFill>
                <a:prstDash val="sysDot"/>
              </a:ln>
            </c:spPr>
            <c:trendlineType val="linear"/>
            <c:dispRSqr val="0"/>
            <c:dispEq val="0"/>
          </c:trendline>
          <c:trendline>
            <c:spPr>
              <a:ln xmlns:a="http://schemas.openxmlformats.org/drawingml/2006/main" w="19050">
                <a:solidFill>
                  <a:schemeClr val="accent2"/>
                </a:solidFill>
                <a:prstDash val="sysDot"/>
              </a:ln>
            </c:spPr>
            <c:trendlineType val="linear"/>
            <c:dispRSqr val="0"/>
            <c:dispEq val="0"/>
          </c:trendline>
          <c:cat>
            <c:numRef>
              <c:f>Sheet4!$B$3:$B$27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Sheet4!$D$3:$D$27</c:f>
              <c:numCache>
                <c:formatCode>General</c:formatCode>
                <c:ptCount val="25"/>
                <c:pt idx="0">
                  <c:v>5879</c:v>
                </c:pt>
                <c:pt idx="1">
                  <c:v>2871</c:v>
                </c:pt>
                <c:pt idx="2">
                  <c:v>665</c:v>
                </c:pt>
                <c:pt idx="3">
                  <c:v>3265</c:v>
                </c:pt>
                <c:pt idx="4">
                  <c:v>2584</c:v>
                </c:pt>
                <c:pt idx="5">
                  <c:v>2379</c:v>
                </c:pt>
                <c:pt idx="6">
                  <c:v>4721</c:v>
                </c:pt>
                <c:pt idx="7">
                  <c:v>2452</c:v>
                </c:pt>
                <c:pt idx="8">
                  <c:v>5187</c:v>
                </c:pt>
                <c:pt idx="9">
                  <c:v>4613</c:v>
                </c:pt>
                <c:pt idx="10">
                  <c:v>714</c:v>
                </c:pt>
                <c:pt idx="11">
                  <c:v>5713</c:v>
                </c:pt>
                <c:pt idx="12">
                  <c:v>4278</c:v>
                </c:pt>
                <c:pt idx="13">
                  <c:v>2811</c:v>
                </c:pt>
                <c:pt idx="14">
                  <c:v>5343</c:v>
                </c:pt>
                <c:pt idx="15">
                  <c:v>3366</c:v>
                </c:pt>
                <c:pt idx="16">
                  <c:v>2961</c:v>
                </c:pt>
                <c:pt idx="17">
                  <c:v>4832</c:v>
                </c:pt>
                <c:pt idx="18">
                  <c:v>3931</c:v>
                </c:pt>
                <c:pt idx="19">
                  <c:v>2810</c:v>
                </c:pt>
                <c:pt idx="20">
                  <c:v>1882</c:v>
                </c:pt>
                <c:pt idx="21">
                  <c:v>1203</c:v>
                </c:pt>
                <c:pt idx="22">
                  <c:v>2274</c:v>
                </c:pt>
                <c:pt idx="23">
                  <c:v>2267</c:v>
                </c:pt>
                <c:pt idx="24">
                  <c:v>2878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9618864"/>
        <c:axId val="1469620784"/>
      </c:lineChart>
      <c:dateAx>
        <c:axId val="146961886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9620784"/>
        <c:crosses val="autoZero"/>
        <c:auto val="1"/>
        <c:lblOffset val="100"/>
        <c:baseTimeUnit val="months"/>
      </c:dateAx>
      <c:valAx>
        <c:axId val="1469620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961886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Drum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Sheet4!$C$2</c:f>
              <c:strCache>
                <c:ptCount val="1"/>
                <c:pt idx="0">
                  <c:v>Drum1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2"/>
              </a:solidFill>
            </a:ln>
          </c:spPr>
          <c:marker>
            <c:symbol val="none"/>
          </c:marker>
          <c:dLbls>
            <c:dLbl>
              <c:idx val="24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trendline>
            <c:spPr>
              <a:ln xmlns:a="http://schemas.openxmlformats.org/drawingml/2006/main" w="19050">
                <a:solidFill>
                  <a:schemeClr val="accent2"/>
                </a:solidFill>
                <a:prstDash val="sysDot"/>
              </a:ln>
            </c:spPr>
            <c:trendlineType val="linear"/>
            <c:dispRSqr val="0"/>
            <c:dispEq val="0"/>
          </c:trendline>
          <c:cat>
            <c:numRef>
              <c:f>Sheet4!$B$39:$B$63</c:f>
              <c:numCache>
                <c:formatCode>mmm\-yy</c:formatCode>
                <c:ptCount val="25"/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  <c:pt idx="13">
                  <c:v>45047</c:v>
                </c:pt>
                <c:pt idx="14">
                  <c:v>45078</c:v>
                </c:pt>
                <c:pt idx="15">
                  <c:v>45108</c:v>
                </c:pt>
                <c:pt idx="16">
                  <c:v>45139</c:v>
                </c:pt>
                <c:pt idx="17">
                  <c:v>45170</c:v>
                </c:pt>
                <c:pt idx="18">
                  <c:v>45200</c:v>
                </c:pt>
                <c:pt idx="19">
                  <c:v>45231</c:v>
                </c:pt>
                <c:pt idx="20">
                  <c:v>45261</c:v>
                </c:pt>
                <c:pt idx="21">
                  <c:v>45292</c:v>
                </c:pt>
                <c:pt idx="22">
                  <c:v>45323</c:v>
                </c:pt>
                <c:pt idx="23">
                  <c:v>45352</c:v>
                </c:pt>
                <c:pt idx="24">
                  <c:v>45383</c:v>
                </c:pt>
              </c:numCache>
            </c:numRef>
          </c:cat>
          <c:val>
            <c:numRef>
              <c:f>Sheet4!$C$39:$C$63</c:f>
              <c:numCache>
                <c:formatCode>General</c:formatCode>
                <c:ptCount val="25"/>
                <c:pt idx="0">
                  <c:v>0</c:v>
                </c:pt>
                <c:pt idx="1">
                  <c:v>8987</c:v>
                </c:pt>
                <c:pt idx="2">
                  <c:v>4251</c:v>
                </c:pt>
                <c:pt idx="3">
                  <c:v>1025</c:v>
                </c:pt>
                <c:pt idx="4">
                  <c:v>3687</c:v>
                </c:pt>
                <c:pt idx="5">
                  <c:v>3634</c:v>
                </c:pt>
                <c:pt idx="6">
                  <c:v>2783</c:v>
                </c:pt>
                <c:pt idx="7">
                  <c:v>5327</c:v>
                </c:pt>
                <c:pt idx="8">
                  <c:v>2877</c:v>
                </c:pt>
                <c:pt idx="9">
                  <c:v>5762</c:v>
                </c:pt>
                <c:pt idx="10">
                  <c:v>5512</c:v>
                </c:pt>
                <c:pt idx="11">
                  <c:v>1413</c:v>
                </c:pt>
                <c:pt idx="12">
                  <c:v>6809</c:v>
                </c:pt>
                <c:pt idx="13">
                  <c:v>5276</c:v>
                </c:pt>
                <c:pt idx="14">
                  <c:v>3376</c:v>
                </c:pt>
                <c:pt idx="15">
                  <c:v>5755</c:v>
                </c:pt>
                <c:pt idx="16">
                  <c:v>4260</c:v>
                </c:pt>
                <c:pt idx="17">
                  <c:v>3763</c:v>
                </c:pt>
                <c:pt idx="18">
                  <c:v>5705</c:v>
                </c:pt>
                <c:pt idx="19">
                  <c:v>4641</c:v>
                </c:pt>
                <c:pt idx="20">
                  <c:v>3540</c:v>
                </c:pt>
                <c:pt idx="21">
                  <c:v>2855</c:v>
                </c:pt>
                <c:pt idx="22">
                  <c:v>1656</c:v>
                </c:pt>
                <c:pt idx="23">
                  <c:v>3005</c:v>
                </c:pt>
                <c:pt idx="24">
                  <c:v>3383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69618864"/>
        <c:axId val="1469620784"/>
      </c:lineChart>
      <c:dateAx>
        <c:axId val="1469618864"/>
        <c:scaling>
          <c:orientation val="minMax"/>
        </c:scaling>
        <c:delete val="0"/>
        <c:axPos val="b"/>
        <c:numFmt formatCode="mmm\-yy" sourceLinked="0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1469620784"/>
        <c:crosses val="autoZero"/>
        <c:auto val="1"/>
        <c:lblOffset val="100"/>
        <c:baseTimeUnit val="months"/>
      </c:dateAx>
      <c:valAx>
        <c:axId val="14696207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6961886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6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Ink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Sheet4!$C$2</c:f>
              <c:strCache>
                <c:ptCount val="1"/>
                <c:pt idx="0">
                  <c:v>Drum1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5"/>
              </a:solidFill>
            </a:ln>
          </c:spPr>
          <c:marker>
            <c:symbol val="none"/>
          </c:marker>
          <c:dLbls>
            <c:dLbl>
              <c:idx val="24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trendline>
            <c:spPr>
              <a:ln xmlns:a="http://schemas.openxmlformats.org/drawingml/2006/main" w="19050">
                <a:solidFill>
                  <a:schemeClr val="accent5"/>
                </a:solidFill>
                <a:prstDash val="sysDot"/>
              </a:ln>
            </c:spPr>
            <c:trendlineType val="linear"/>
            <c:dispRSqr val="0"/>
            <c:dispEq val="0"/>
          </c:trendline>
          <c:cat>
            <c:numRef>
              <c:f>Sheet4!$B$39:$B$63</c:f>
              <c:numCache>
                <c:formatCode>mmm\-yy</c:formatCode>
                <c:ptCount val="25"/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  <c:pt idx="13">
                  <c:v>45047</c:v>
                </c:pt>
                <c:pt idx="14">
                  <c:v>45078</c:v>
                </c:pt>
                <c:pt idx="15">
                  <c:v>45108</c:v>
                </c:pt>
                <c:pt idx="16">
                  <c:v>45139</c:v>
                </c:pt>
                <c:pt idx="17">
                  <c:v>45170</c:v>
                </c:pt>
                <c:pt idx="18">
                  <c:v>45200</c:v>
                </c:pt>
                <c:pt idx="19">
                  <c:v>45231</c:v>
                </c:pt>
                <c:pt idx="20">
                  <c:v>45261</c:v>
                </c:pt>
                <c:pt idx="21">
                  <c:v>45292</c:v>
                </c:pt>
                <c:pt idx="22">
                  <c:v>45323</c:v>
                </c:pt>
                <c:pt idx="23">
                  <c:v>45352</c:v>
                </c:pt>
                <c:pt idx="24">
                  <c:v>45383</c:v>
                </c:pt>
              </c:numCache>
            </c:numRef>
          </c:cat>
          <c:val>
            <c:numRef>
              <c:f>Sheet4!$D$39:$D$63</c:f>
              <c:numCache>
                <c:formatCode>General</c:formatCode>
                <c:ptCount val="25"/>
                <c:pt idx="0">
                  <c:v>0</c:v>
                </c:pt>
                <c:pt idx="1">
                  <c:v>508</c:v>
                </c:pt>
                <c:pt idx="2">
                  <c:v>908</c:v>
                </c:pt>
                <c:pt idx="3">
                  <c:v>395</c:v>
                </c:pt>
                <c:pt idx="4">
                  <c:v>647</c:v>
                </c:pt>
                <c:pt idx="5">
                  <c:v>1291</c:v>
                </c:pt>
                <c:pt idx="6">
                  <c:v>1487</c:v>
                </c:pt>
                <c:pt idx="7">
                  <c:v>1670</c:v>
                </c:pt>
                <c:pt idx="8">
                  <c:v>532</c:v>
                </c:pt>
                <c:pt idx="9">
                  <c:v>1008</c:v>
                </c:pt>
                <c:pt idx="10">
                  <c:v>2702</c:v>
                </c:pt>
                <c:pt idx="11">
                  <c:v>2393</c:v>
                </c:pt>
                <c:pt idx="12">
                  <c:v>1955</c:v>
                </c:pt>
                <c:pt idx="13">
                  <c:v>3683</c:v>
                </c:pt>
                <c:pt idx="14">
                  <c:v>3265</c:v>
                </c:pt>
                <c:pt idx="15">
                  <c:v>2341</c:v>
                </c:pt>
                <c:pt idx="16">
                  <c:v>1819</c:v>
                </c:pt>
                <c:pt idx="17">
                  <c:v>1494</c:v>
                </c:pt>
                <c:pt idx="18">
                  <c:v>1650</c:v>
                </c:pt>
                <c:pt idx="19">
                  <c:v>1277</c:v>
                </c:pt>
                <c:pt idx="20">
                  <c:v>1167</c:v>
                </c:pt>
                <c:pt idx="21">
                  <c:v>2698</c:v>
                </c:pt>
                <c:pt idx="22">
                  <c:v>1411</c:v>
                </c:pt>
                <c:pt idx="23">
                  <c:v>2484</c:v>
                </c:pt>
                <c:pt idx="24">
                  <c:v>2338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69618864"/>
        <c:axId val="1469620784"/>
      </c:lineChart>
      <c:dateAx>
        <c:axId val="1469618864"/>
        <c:scaling>
          <c:orientation val="minMax"/>
        </c:scaling>
        <c:delete val="0"/>
        <c:axPos val="b"/>
        <c:numFmt formatCode="mmm\-yy" sourceLinked="0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1469620784"/>
        <c:crosses val="autoZero"/>
        <c:auto val="1"/>
        <c:lblOffset val="100"/>
        <c:baseTimeUnit val="months"/>
      </c:dateAx>
      <c:valAx>
        <c:axId val="14696207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6961886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7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rPr>
              <a:t>Ink2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Sheet4!$F$2</c:f>
              <c:strCache>
                <c:ptCount val="1"/>
                <c:pt idx="0">
                  <c:v>Ink2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trendline>
            <c:spPr>
              <a:ln xmlns:a="http://schemas.openxmlformats.org/drawingml/2006/main" w="19050">
                <a:solidFill>
                  <a:schemeClr val="accent5"/>
                </a:solidFill>
                <a:prstDash val="sysDot"/>
              </a:ln>
            </c:spPr>
            <c:trendlineType val="linear"/>
            <c:dispRSqr val="0"/>
            <c:dispEq val="0"/>
          </c:trendline>
          <c:cat>
            <c:numRef>
              <c:f>Sheet4!$B$3:$B$27</c:f>
              <c:numCache>
                <c:formatCode>mmm\-yy</c:formatCode>
                <c:ptCount val="25"/>
                <c:pt idx="0">
                  <c:v>44682</c:v>
                </c:pt>
                <c:pt idx="1">
                  <c:v>44713</c:v>
                </c:pt>
                <c:pt idx="2">
                  <c:v>44743</c:v>
                </c:pt>
                <c:pt idx="3">
                  <c:v>44774</c:v>
                </c:pt>
                <c:pt idx="4">
                  <c:v>44805</c:v>
                </c:pt>
                <c:pt idx="5">
                  <c:v>44835</c:v>
                </c:pt>
                <c:pt idx="6">
                  <c:v>44866</c:v>
                </c:pt>
                <c:pt idx="7">
                  <c:v>44896</c:v>
                </c:pt>
                <c:pt idx="8">
                  <c:v>44927</c:v>
                </c:pt>
                <c:pt idx="9">
                  <c:v>44958</c:v>
                </c:pt>
                <c:pt idx="10">
                  <c:v>44986</c:v>
                </c:pt>
                <c:pt idx="11">
                  <c:v>45017</c:v>
                </c:pt>
                <c:pt idx="12">
                  <c:v>45047</c:v>
                </c:pt>
                <c:pt idx="13">
                  <c:v>45078</c:v>
                </c:pt>
                <c:pt idx="14">
                  <c:v>45108</c:v>
                </c:pt>
                <c:pt idx="15">
                  <c:v>45139</c:v>
                </c:pt>
                <c:pt idx="16">
                  <c:v>45170</c:v>
                </c:pt>
                <c:pt idx="17">
                  <c:v>45200</c:v>
                </c:pt>
                <c:pt idx="18">
                  <c:v>45231</c:v>
                </c:pt>
                <c:pt idx="19">
                  <c:v>45261</c:v>
                </c:pt>
                <c:pt idx="20">
                  <c:v>45292</c:v>
                </c:pt>
                <c:pt idx="21">
                  <c:v>45323</c:v>
                </c:pt>
                <c:pt idx="22">
                  <c:v>45352</c:v>
                </c:pt>
                <c:pt idx="23">
                  <c:v>45383</c:v>
                </c:pt>
                <c:pt idx="24">
                  <c:v>45413</c:v>
                </c:pt>
              </c:numCache>
            </c:numRef>
          </c:cat>
          <c:val>
            <c:numRef>
              <c:f>Sheet4!$F$3:$F$27</c:f>
              <c:numCache>
                <c:formatCode>General</c:formatCode>
                <c:ptCount val="25"/>
                <c:pt idx="0">
                  <c:v>104</c:v>
                </c:pt>
                <c:pt idx="1">
                  <c:v>279</c:v>
                </c:pt>
                <c:pt idx="2">
                  <c:v>119</c:v>
                </c:pt>
                <c:pt idx="3">
                  <c:v>178</c:v>
                </c:pt>
                <c:pt idx="4">
                  <c:v>338</c:v>
                </c:pt>
                <c:pt idx="5">
                  <c:v>287</c:v>
                </c:pt>
                <c:pt idx="6">
                  <c:v>581</c:v>
                </c:pt>
                <c:pt idx="7">
                  <c:v>85</c:v>
                </c:pt>
                <c:pt idx="8">
                  <c:v>417</c:v>
                </c:pt>
                <c:pt idx="9">
                  <c:v>815</c:v>
                </c:pt>
                <c:pt idx="10">
                  <c:v>1120</c:v>
                </c:pt>
                <c:pt idx="11">
                  <c:v>642</c:v>
                </c:pt>
                <c:pt idx="12">
                  <c:v>1367</c:v>
                </c:pt>
                <c:pt idx="13">
                  <c:v>2034</c:v>
                </c:pt>
                <c:pt idx="14">
                  <c:v>1442</c:v>
                </c:pt>
                <c:pt idx="15">
                  <c:v>794</c:v>
                </c:pt>
                <c:pt idx="16">
                  <c:v>805</c:v>
                </c:pt>
                <c:pt idx="17">
                  <c:v>778</c:v>
                </c:pt>
                <c:pt idx="18">
                  <c:v>622</c:v>
                </c:pt>
                <c:pt idx="19">
                  <c:v>502</c:v>
                </c:pt>
                <c:pt idx="20">
                  <c:v>1718</c:v>
                </c:pt>
                <c:pt idx="21">
                  <c:v>791</c:v>
                </c:pt>
                <c:pt idx="22">
                  <c:v>1380</c:v>
                </c:pt>
                <c:pt idx="23">
                  <c:v>1149</c:v>
                </c:pt>
                <c:pt idx="24">
                  <c:v>689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69618864"/>
        <c:axId val="1469620784"/>
      </c:lineChart>
      <c:dateAx>
        <c:axId val="1469618864"/>
        <c:scaling>
          <c:orientation val="minMax"/>
        </c:scaling>
        <c:delete val="0"/>
        <c:axPos val="b"/>
        <c:numFmt formatCode="mmm\-yy" sourceLinked="0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1469620784"/>
        <c:crosses val="autoZero"/>
        <c:auto val="1"/>
        <c:lblOffset val="100"/>
        <c:baseTimeUnit val="months"/>
      </c:dateAx>
      <c:valAx>
        <c:axId val="1469620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46961886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D2B266D-3625-4584-A5C3-7D3F672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463B99A-73EE-4FBB-B7C4-F9F9BC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36">
            <a:extLst xmlns:a="http://schemas.openxmlformats.org/drawingml/2006/main">
              <a:ext uri="{FF2B5EF4-FFF2-40B4-BE49-F238E27FC236}">
                <a16:creationId xmlns:a16="http://schemas.microsoft.com/office/drawing/2014/main" id="{A5D2A5D1-BA0D-47D3-B051-DA7743C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19825"/>
          </a:xfrm>
          <a:custGeom xmlns:a="http://schemas.openxmlformats.org/drawingml/2006/main"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EBAEAD2-BB9E-17E8-304D-E7EB2632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64" y="1901108"/>
            <a:ext cx="5375088" cy="2341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667512">
              <a:spcAft>
                <a:spcPts val="600"/>
              </a:spcAft>
              <a:buNone/>
            </a:pPr>
            <a:endParaRPr sz="1022" kern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ctr" defTabSz="667512">
              <a:spcAft>
                <a:spcPts val="600"/>
              </a:spcAft>
              <a:buNone/>
            </a:pPr>
            <a:r>
              <a:rPr sz="876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36" b="1">
                <a:solidFill>
                  <a:srgbClr val="005897"/>
                </a:solidFill>
                <a:latin typeface="Calibri"/>
                <a:ea typeface="Calibri"/>
                <a:cs typeface="Calibri"/>
              </a:rPr>
              <a:t>Analyst, Sales &amp; Operations Planning</a:t>
            </a:r>
          </a:p>
          <a:p xmlns:a="http://schemas.openxmlformats.org/drawingml/2006/main">
            <a:pPr algn="ctr" defTabSz="667512">
              <a:spcAft>
                <a:spcPts val="600"/>
              </a:spcAft>
              <a:buNone/>
            </a:pPr>
            <a:endParaRPr sz="2336" kern="1200">
              <a:solidFill>
                <a:srgbClr val="00589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ctr" defTabSz="667512">
              <a:spcAft>
                <a:spcPts val="600"/>
              </a:spcAft>
              <a:buNone/>
            </a:pPr>
            <a:r>
              <a:rPr sz="2044" b="1">
                <a:solidFill>
                  <a:srgbClr val="005897"/>
                </a:solidFill>
                <a:latin typeface="Calibri"/>
                <a:ea typeface="Calibri"/>
                <a:cs typeface="Calibri"/>
              </a:rPr>
              <a:t>Business Case </a:t>
            </a:r>
          </a:p>
          <a:p xmlns:a="http://schemas.openxmlformats.org/drawingml/2006/main">
            <a:pPr algn="ctr" defTabSz="667512">
              <a:spcAft>
                <a:spcPts val="600"/>
              </a:spcAft>
              <a:buNone/>
            </a:pPr>
            <a:endParaRPr sz="2628" b="1" kern="1200">
              <a:solidFill>
                <a:srgbClr val="00589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ctr" defTabSz="667512">
              <a:spcAft>
                <a:spcPts val="600"/>
              </a:spcAft>
              <a:buNone/>
            </a:pPr>
            <a:r>
              <a:rPr sz="1752" b="1">
                <a:solidFill>
                  <a:srgbClr val="005897"/>
                </a:solidFill>
                <a:latin typeface="Calibri"/>
                <a:ea typeface="Calibri"/>
                <a:cs typeface="Calibri"/>
              </a:rPr>
              <a:t>Vandita Kulkarni</a:t>
            </a:r>
            <a:endParaRPr sz="2400" b="0" i="0" u="none" baseline="0">
              <a:solidFill>
                <a:srgbClr val="2D74B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0031392-289B-0960-346A-D9FF7809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226" y="6391628"/>
            <a:ext cx="1945311" cy="294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667512">
              <a:spcAft>
                <a:spcPts val="600"/>
              </a:spcAft>
              <a:buNone/>
            </a:pPr>
            <a:r>
              <a:rPr sz="1314" b="1">
                <a:solidFill>
                  <a:srgbClr val="005897"/>
                </a:solidFill>
                <a:latin typeface="Calibri"/>
                <a:ea typeface="Calibri"/>
                <a:cs typeface="Calibri"/>
              </a:rPr>
              <a:t>Thursday, June 13, 2024</a:t>
            </a:r>
            <a:endParaRPr sz="1800" b="0" i="0" u="none" baseline="0">
              <a:solidFill>
                <a:srgbClr val="2D74B5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5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429b9b2c948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44364" y="1147157"/>
            <a:ext cx="4138568" cy="3925510"/>
          </a:xfrm>
          <a:prstGeom xmlns:a="http://schemas.openxmlformats.org/drawingml/2006/main" prst="ellipse">
            <a:avLst/>
          </a:prstGeom>
          <a:ln xmlns:a="http://schemas.openxmlformats.org/drawingml/2006/main" w="190500" cap="rnd">
            <a:solidFill>
              <a:srgbClr val="C8C6BD"/>
            </a:solidFill>
            <a:prstDash val="solid"/>
          </a:ln>
          <a:effectLst xmlns:a="http://schemas.openxmlformats.org/drawingml/2006/main">
            <a:outerShdw blurRad="127000" algn="bl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208022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D24BFD5-D814-402B-B6C4-EEF6AE1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36FED7E8-9A97-475F-9FA4-113410D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139" y="1031284"/>
            <a:ext cx="3647661" cy="4436126"/>
          </a:xfrm>
          <a:custGeom xmlns:a="http://schemas.openxmlformats.org/drawingml/2006/main"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rect l="l" t="t" r="r" b="b"/>
            <a:pathLst>
              <a:path w="3647661" h="4436126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5715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sketch line">
            <a:extLst xmlns:a="http://schemas.openxmlformats.org/drawingml/2006/main">
              <a:ext uri="{FF2B5EF4-FFF2-40B4-BE49-F238E27FC236}">
                <a16:creationId xmlns:a16="http://schemas.microsoft.com/office/drawing/2014/main" id="{2A39B854-4B6C-4F7F-A602-6F97770C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9" y="5439978"/>
            <a:ext cx="6281928" cy="18288"/>
          </a:xfrm>
          <a:custGeom xmlns:a="http://schemas.openxmlformats.org/drawingml/2006/main"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rect l="l" t="t" r="r" b="b"/>
            <a:pathLst>
              <a:path w="6281928" h="18288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412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F75868A-FB33-12E7-CF12-6388C474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46" y="638175"/>
            <a:ext cx="5727987" cy="4496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latin typeface="Calibri"/>
                <a:ea typeface="Calibri"/>
                <a:cs typeface="Calibri"/>
              </a:rPr>
              <a:t>Agenda</a:t>
            </a:r>
          </a:p>
          <a:p xmlns:a="http://schemas.openxmlformats.org/drawingml/2006/main">
            <a:endParaRPr/>
          </a:p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Calibri"/>
                <a:ea typeface="Calibri"/>
                <a:cs typeface="Calibri"/>
              </a:rPr>
              <a:t>Business Case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Calibri"/>
                <a:ea typeface="Calibri"/>
                <a:cs typeface="Calibri"/>
              </a:rPr>
              <a:t>Objective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Calibri"/>
                <a:ea typeface="Calibri"/>
                <a:cs typeface="Calibri"/>
              </a:rPr>
              <a:t>Data insights and trends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Calibri"/>
                <a:ea typeface="Calibri"/>
                <a:cs typeface="Calibri"/>
              </a:rPr>
              <a:t>Forecast review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Calibri"/>
                <a:ea typeface="Calibri"/>
                <a:cs typeface="Calibri"/>
              </a:rPr>
              <a:t>Forecast performance metrics and accuracy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Calibri"/>
                <a:ea typeface="Calibri"/>
                <a:cs typeface="Calibri"/>
              </a:rPr>
              <a:t>ARIMA model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Calibri"/>
                <a:ea typeface="Calibri"/>
                <a:cs typeface="Calibri"/>
              </a:rPr>
              <a:t>Purchase order quantity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Calibri"/>
                <a:ea typeface="Calibri"/>
                <a:cs typeface="Calibri"/>
              </a:rPr>
              <a:t>Q&amp;A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Calibri"/>
                <a:ea typeface="Calibri"/>
                <a:cs typeface="Calibri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867197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D2B266D-3625-4584-A5C3-7D3F672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463B99A-73EE-4FBB-B7C4-F9F9BC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36">
            <a:extLst xmlns:a="http://schemas.openxmlformats.org/drawingml/2006/main">
              <a:ext uri="{FF2B5EF4-FFF2-40B4-BE49-F238E27FC236}">
                <a16:creationId xmlns:a16="http://schemas.microsoft.com/office/drawing/2014/main" id="{A5D2A5D1-BA0D-47D3-B051-DA7743C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19825"/>
          </a:xfrm>
          <a:custGeom xmlns:a="http://schemas.openxmlformats.org/drawingml/2006/main"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E2E79F2-A822-A666-CD1F-4CDDEC11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601" y="944257"/>
            <a:ext cx="4149504" cy="4247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Business Case:</a:t>
            </a:r>
          </a:p>
          <a:p xmlns:a="http://schemas.openxmlformats.org/drawingml/2006/main"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i="1">
                <a:latin typeface="Calibri"/>
                <a:ea typeface="Calibri"/>
                <a:cs typeface="Calibri"/>
              </a:rPr>
              <a:t>Data set for 11 products across 4 printing supplies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i="1">
                <a:latin typeface="Calibri"/>
                <a:ea typeface="Calibri"/>
                <a:cs typeface="Calibri"/>
              </a:rPr>
              <a:t>Lead time: 4 months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i="1">
                <a:latin typeface="Calibri"/>
                <a:ea typeface="Calibri"/>
                <a:cs typeface="Calibri"/>
              </a:rPr>
              <a:t>Beginning of the month inventory level at </a:t>
            </a:r>
            <a:r>
              <a:rPr i="1">
                <a:latin typeface="Calibri"/>
                <a:ea typeface="Calibri"/>
                <a:cs typeface="Calibri"/>
              </a:rPr>
              <a:t>Company and Partner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i="1">
                <a:latin typeface="Calibri"/>
                <a:ea typeface="Calibri"/>
                <a:cs typeface="Calibri"/>
              </a:rPr>
              <a:t>25 months sales data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i="1">
                <a:latin typeface="Calibri"/>
                <a:ea typeface="Calibri"/>
                <a:cs typeface="Calibri"/>
              </a:rPr>
              <a:t>Rolling forecast data for 6 months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i="1">
                <a:latin typeface="Calibri"/>
                <a:ea typeface="Calibri"/>
                <a:cs typeface="Calibri"/>
              </a:rPr>
              <a:t>Flag for promotion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0F7A6D1-5A80-F292-2342-F5A4190F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708" y="898090"/>
            <a:ext cx="5237640" cy="2446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Objective:</a:t>
            </a:r>
          </a:p>
          <a:p xmlns:a="http://schemas.openxmlformats.org/drawingml/2006/main"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i="1">
                <a:latin typeface="Calibri"/>
                <a:ea typeface="Calibri"/>
                <a:cs typeface="Calibri"/>
              </a:rPr>
              <a:t>Insights &amp; trends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i="1">
                <a:latin typeface="Calibri"/>
                <a:ea typeface="Calibri"/>
                <a:cs typeface="Calibri"/>
              </a:rPr>
              <a:t>Forecast performance &amp; ways to improve forecast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i="1">
                <a:latin typeface="Calibri"/>
                <a:ea typeface="Calibri"/>
                <a:cs typeface="Calibri"/>
              </a:rPr>
              <a:t>Calculate next PO quantity</a:t>
            </a:r>
          </a:p>
          <a:p xmlns:a="http://schemas.openxmlformats.org/drawingml/2006/main">
            <a:pPr marL="342900" indent="-342900">
              <a:buAutoNum type="arabicPeriod"/>
            </a:pP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866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D24BFD5-D814-402B-B6C4-EEF6AE1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CB849D-8F72-F8E9-81D2-022A3FFA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2362"/>
            <a:ext cx="6281928" cy="4135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sz="6600">
                <a:latin typeface="+mj-lt"/>
                <a:ea typeface="+mj-lt"/>
                <a:cs typeface="+mj-lt"/>
              </a:rPr>
              <a:t>Insights &amp; trends</a:t>
            </a:r>
            <a:endParaRPr sz="6600" kern="1200">
              <a:solidFill>
                <a:schemeClr val="tx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36FED7E8-9A97-475F-9FA4-113410D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139" y="1031284"/>
            <a:ext cx="3647661" cy="4436126"/>
          </a:xfrm>
          <a:custGeom xmlns:a="http://schemas.openxmlformats.org/drawingml/2006/main"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rect l="l" t="t" r="r" b="b"/>
            <a:pathLst>
              <a:path w="3647661" h="4436126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5715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sketch line">
            <a:extLst xmlns:a="http://schemas.openxmlformats.org/drawingml/2006/main">
              <a:ext uri="{FF2B5EF4-FFF2-40B4-BE49-F238E27FC236}">
                <a16:creationId xmlns:a16="http://schemas.microsoft.com/office/drawing/2014/main" id="{2A39B854-4B6C-4F7F-A602-6F97770C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9" y="5439978"/>
            <a:ext cx="6281928" cy="18288"/>
          </a:xfrm>
          <a:custGeom xmlns:a="http://schemas.openxmlformats.org/drawingml/2006/main"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rect l="l" t="t" r="r" b="b"/>
            <a:pathLst>
              <a:path w="6281928" h="18288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412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928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Freeform 6">
            <a:extLst xmlns:a="http://schemas.openxmlformats.org/drawingml/2006/main">
              <a:ext uri="{FF2B5EF4-FFF2-40B4-BE49-F238E27FC236}">
                <a16:creationId xmlns:a16="http://schemas.microsoft.com/office/drawing/2014/main" id="{69D184B2-2226-4E31-BCCB-44433076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533" y="918266"/>
            <a:ext cx="706127" cy="5863534"/>
          </a:xfrm>
          <a:custGeom xmlns:a="http://schemas.openxmlformats.org/drawingml/2006/main"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Freeform 7">
            <a:extLst xmlns:a="http://schemas.openxmlformats.org/drawingml/2006/main">
              <a:ext uri="{FF2B5EF4-FFF2-40B4-BE49-F238E27FC236}">
                <a16:creationId xmlns:a16="http://schemas.microsoft.com/office/drawing/2014/main" id="{1AC4D4E3-486A-464A-8EC8-D4488109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879" y="643467"/>
            <a:ext cx="420307" cy="5668919"/>
          </a:xfrm>
          <a:custGeom xmlns:a="http://schemas.openxmlformats.org/drawingml/2006/main"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864DE13E-58EB-4475-B79C-0D4FC651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87" y="643467"/>
            <a:ext cx="10933503" cy="5391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traight Connector 49">
            <a:extLst xmlns:a="http://schemas.openxmlformats.org/drawingml/2006/main">
              <a:ext uri="{FF2B5EF4-FFF2-40B4-BE49-F238E27FC236}">
                <a16:creationId xmlns:a16="http://schemas.microsoft.com/office/drawing/2014/main" id="{3B533C91-6596-4E8A-9967-DBB37776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9239"/>
            <a:ext cx="0" cy="3200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2b94057dd4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814" y="1560117"/>
            <a:ext cx="5396291" cy="3200400"/>
          </a:xfrm>
          <a:prstGeom xmlns:a="http://schemas.openxmlformats.org/drawingml/2006/main" prst="rect">
            <a:avLst/>
          </a:prstGeom>
        </p:spPr>
      </p:pic>
      <p:pic>
        <p:nvPicPr>
          <p:cNvPr id="59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27f2df6754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2739" y="1560117"/>
            <a:ext cx="5312235" cy="320040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9E3151B-2290-EFFC-B587-08DF8E8A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56" y="4829538"/>
            <a:ext cx="6879512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Product category-Toner and Tape contributes 89% of the total.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Top-5 products contributing maximum sales are same for both *fiscal year 2023 &amp; 2024.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Assumption- fiscal year from May to Apr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2AC4559-C468-A4FA-52AC-886601FE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856" y="5608256"/>
            <a:ext cx="202254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Power BI desktop</a:t>
            </a:r>
          </a:p>
        </p:txBody>
      </p:sp>
    </p:spTree>
    <p:extLst>
      <p:ext uri="{BB962C8B-B14F-4D97-AF65-F5344CB8AC3E}">
        <p14:creationId xmlns:p14="http://schemas.microsoft.com/office/powerpoint/2010/main" val="2279348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3EDB3DA-AEF0-428A-A317-C42827E6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302" y="0"/>
            <a:ext cx="3809132" cy="31169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A06AD8B-0227-4FF6-AEB4-C66C5A53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69422"/>
            <a:ext cx="5001186" cy="278857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DFACEB2-7564-4FB9-B739-C2CE339B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3904" y="0"/>
            <a:ext cx="76809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614E">
              <a:alpha val="9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48207361a46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038" y="798841"/>
            <a:ext cx="6992028" cy="2924203"/>
          </a:xfrm>
          <a:prstGeom xmlns:a="http://schemas.openxmlformats.org/drawingml/2006/main" prst="rect">
            <a:avLst/>
          </a:prstGeom>
        </p:spPr>
      </p:pic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64de66550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61013" y="3825252"/>
            <a:ext cx="6084656" cy="2374813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E19AEF8-7AF6-021A-B28C-CD5AC9C0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21" y="4296965"/>
            <a:ext cx="4495431" cy="16004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Sales contribution of the segments within the Product category is same for fiscal year 2023 &amp; 2024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Insight: We can prepare category level aggregated data for forecasting and distribute demand to segments withing the category.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* Assumption- fiscal year from May to Apr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E82086-17CA-9A6C-677F-7C3D03D1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856" y="6486080"/>
            <a:ext cx="202254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Power BI desktop</a:t>
            </a:r>
          </a:p>
        </p:txBody>
      </p:sp>
    </p:spTree>
    <p:extLst>
      <p:ext uri="{BB962C8B-B14F-4D97-AF65-F5344CB8AC3E}">
        <p14:creationId xmlns:p14="http://schemas.microsoft.com/office/powerpoint/2010/main" val="3033555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Freeform 6">
            <a:extLst xmlns:a="http://schemas.openxmlformats.org/drawingml/2006/main">
              <a:ext uri="{FF2B5EF4-FFF2-40B4-BE49-F238E27FC236}">
                <a16:creationId xmlns:a16="http://schemas.microsoft.com/office/drawing/2014/main" id="{69D184B2-2226-4E31-BCCB-44433076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533" y="918266"/>
            <a:ext cx="706127" cy="5863534"/>
          </a:xfrm>
          <a:custGeom xmlns:a="http://schemas.openxmlformats.org/drawingml/2006/main"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7">
            <a:extLst xmlns:a="http://schemas.openxmlformats.org/drawingml/2006/main">
              <a:ext uri="{FF2B5EF4-FFF2-40B4-BE49-F238E27FC236}">
                <a16:creationId xmlns:a16="http://schemas.microsoft.com/office/drawing/2014/main" id="{1AC4D4E3-486A-464A-8EC8-D4488109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879" y="643467"/>
            <a:ext cx="420307" cy="5668919"/>
          </a:xfrm>
          <a:custGeom xmlns:a="http://schemas.openxmlformats.org/drawingml/2006/main"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64DE13E-58EB-4475-B79C-0D4FC651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87" y="643467"/>
            <a:ext cx="10933503" cy="5391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40b19ae3a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934" y="1465164"/>
            <a:ext cx="4616434" cy="4224037"/>
          </a:xfrm>
          <a:prstGeom xmlns:a="http://schemas.openxmlformats.org/drawingml/2006/main" prst="rect">
            <a:avLst/>
          </a:prstGeom>
        </p:spPr>
      </p:pic>
      <p:sp>
        <p:nvSpPr>
          <p:cNvPr id="33" name="Straight Connector 32">
            <a:extLst xmlns:a="http://schemas.openxmlformats.org/drawingml/2006/main">
              <a:ext uri="{FF2B5EF4-FFF2-40B4-BE49-F238E27FC236}">
                <a16:creationId xmlns:a16="http://schemas.microsoft.com/office/drawing/2014/main" id="{8228065F-9260-47FF-980F-10A90E55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9239"/>
            <a:ext cx="0" cy="3200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e010fc5874c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4676" y="1555572"/>
            <a:ext cx="4644528" cy="4133629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691B1C-ED23-BFE4-D614-0379473F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28930"/>
            <a:ext cx="39708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Sales lift by Product Name by Promotion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7474267-C8F4-A8ED-CA6A-DE99EC6E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856" y="6486080"/>
            <a:ext cx="202254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Power BI desktop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FDF4517-1103-9727-D0E6-CAEFE0C1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075" y="900427"/>
            <a:ext cx="849920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Sales lift percentage: 50% for Toner4 at May-23 calculated by considering sales average as baseline </a:t>
            </a:r>
          </a:p>
        </p:txBody>
      </p:sp>
    </p:spTree>
    <p:extLst>
      <p:ext uri="{BB962C8B-B14F-4D97-AF65-F5344CB8AC3E}">
        <p14:creationId xmlns:p14="http://schemas.microsoft.com/office/powerpoint/2010/main" val="3310020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D2B266D-3625-4584-A5C3-7D3F672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463B99A-73EE-4FBB-B7C4-F9F9BC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A5D2A5D1-BA0D-47D3-B051-DA7743C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19825"/>
          </a:xfrm>
          <a:custGeom xmlns:a="http://schemas.openxmlformats.org/drawingml/2006/main"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28" name="Chart 5"/>
          <p:cNvGraphicFramePr/>
          <p:nvPr/>
        </p:nvGraphicFramePr>
        <p:xfrm>
          <a:off xmlns:a="http://schemas.openxmlformats.org/drawingml/2006/main" x="2271343" y="546828"/>
          <a:ext xmlns:a="http://schemas.openxmlformats.org/drawingml/2006/main" cx="7841417" cy="41520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255f14df52465c"/>
          </a:graphicData>
        </a:graphic>
      </p:graphicFrame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56855A3-646A-40EE-02C4-EFE32507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77" y="4769691"/>
            <a:ext cx="8499202" cy="954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Overall sales growth is 9%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Observation: Sales trending negative for Product category Tape and Drum in terms of quantity.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Ink is the high performing category and sales increased by 65%</a:t>
            </a:r>
          </a:p>
          <a:p xmlns:a="http://schemas.openxmlformats.org/drawingml/2006/main">
            <a:endParaRPr sz="1400" i="1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6DB7BA6-3D68-A8DE-30D2-5DECAD7C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62162"/>
            <a:ext cx="333809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Sales growth by Product Category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CBB62B0-A0B0-0580-96B1-FB405A63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303" y="6458876"/>
            <a:ext cx="202254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MS Excel</a:t>
            </a:r>
          </a:p>
        </p:txBody>
      </p:sp>
    </p:spTree>
    <p:extLst>
      <p:ext uri="{BB962C8B-B14F-4D97-AF65-F5344CB8AC3E}">
        <p14:creationId xmlns:p14="http://schemas.microsoft.com/office/powerpoint/2010/main" val="314951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D2B266D-3625-4584-A5C3-7D3F672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463B99A-73EE-4FBB-B7C4-F9F9BC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A5D2A5D1-BA0D-47D3-B051-DA7743C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19825"/>
          </a:xfrm>
          <a:custGeom xmlns:a="http://schemas.openxmlformats.org/drawingml/2006/main"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28" name="Chart 6"/>
          <p:cNvGraphicFramePr/>
          <p:nvPr/>
        </p:nvGraphicFramePr>
        <p:xfrm>
          <a:off xmlns:a="http://schemas.openxmlformats.org/drawingml/2006/main" x="1254642" y="1095153"/>
          <a:ext xmlns:a="http://schemas.openxmlformats.org/drawingml/2006/main" cx="10026502" cy="447630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832d891f1243af"/>
          </a:graphicData>
        </a:graphic>
      </p:graphicFrame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974DFC-1E02-B34A-DE1D-7D912F59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62162"/>
            <a:ext cx="30610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Sales growth by Product Name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9A83D1-6257-B5D7-8EC8-D2C27AA9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303" y="6458876"/>
            <a:ext cx="202254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MS Excel</a:t>
            </a:r>
          </a:p>
        </p:txBody>
      </p:sp>
    </p:spTree>
    <p:extLst>
      <p:ext uri="{BB962C8B-B14F-4D97-AF65-F5344CB8AC3E}">
        <p14:creationId xmlns:p14="http://schemas.microsoft.com/office/powerpoint/2010/main" val="21572367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D2B266D-3625-4584-A5C3-7D3F672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463B99A-73EE-4FBB-B7C4-F9F9BC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Freeform: Shape 30">
            <a:extLst xmlns:a="http://schemas.openxmlformats.org/drawingml/2006/main">
              <a:ext uri="{FF2B5EF4-FFF2-40B4-BE49-F238E27FC236}">
                <a16:creationId xmlns:a16="http://schemas.microsoft.com/office/drawing/2014/main" id="{A5D2A5D1-BA0D-47D3-B051-DA7743C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19825"/>
          </a:xfrm>
          <a:custGeom xmlns:a="http://schemas.openxmlformats.org/drawingml/2006/main"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61dfb9f1343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1954" y="1123367"/>
            <a:ext cx="9365126" cy="415733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A6F6414-C304-C192-92D4-4D211410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6385024"/>
            <a:ext cx="3026251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Jupyter Notebook, Python code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0A8B7D-7AEE-81E7-6C21-44536927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993" y="268843"/>
            <a:ext cx="42423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Descriptive statistics summary of sales data</a:t>
            </a:r>
            <a:endParaRPr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2689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D2B266D-3625-4584-A5C3-7D3F672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463B99A-73EE-4FBB-B7C4-F9F9BC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Freeform: Shape 30">
            <a:extLst xmlns:a="http://schemas.openxmlformats.org/drawingml/2006/main">
              <a:ext uri="{FF2B5EF4-FFF2-40B4-BE49-F238E27FC236}">
                <a16:creationId xmlns:a16="http://schemas.microsoft.com/office/drawing/2014/main" id="{A5D2A5D1-BA0D-47D3-B051-DA7743C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19825"/>
          </a:xfrm>
          <a:custGeom xmlns:a="http://schemas.openxmlformats.org/drawingml/2006/main"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9c8f14a06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2105" y="405718"/>
            <a:ext cx="6850730" cy="5243795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EC5E96-58C5-D6A6-450E-A9F1B479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420253"/>
            <a:ext cx="3026251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Jupyter Notebook, Python code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29CFCC7-8B54-F2A5-503B-754F8CB1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12" y="1731461"/>
            <a:ext cx="3381775" cy="2893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Correlation factor </a:t>
            </a:r>
          </a:p>
          <a:p xmlns:a="http://schemas.openxmlformats.org/drawingml/2006/main"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Insight :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Partner OH data is highly correlated with actual sales.</a:t>
            </a:r>
          </a:p>
          <a:p xmlns:a="http://schemas.openxmlformats.org/drawingml/2006/main"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If high inventory at Partner location and if the product is on sale, we can anticipate sales lift in the demand.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Correlation factor used to select variables for regression analysis</a:t>
            </a:r>
            <a:r>
              <a:rPr sz="1600" i="1">
                <a:latin typeface="Calibri"/>
                <a:ea typeface="Calibri"/>
                <a:cs typeface="Calibri"/>
              </a:rPr>
              <a:t>.</a:t>
            </a:r>
            <a:endParaRPr sz="1600" i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39470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BA5A841-53DA-6A54-9B97-E1FAC8D4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303" y="6458876"/>
            <a:ext cx="202254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MS Excel</a:t>
            </a:r>
          </a:p>
        </p:txBody>
      </p:sp>
      <p:graphicFrame>
        <p:nvGraphicFramePr>
          <p:cNvPr id="16" name="Chart 8"/>
          <p:cNvGraphicFramePr/>
          <p:nvPr/>
        </p:nvGraphicFramePr>
        <p:xfrm>
          <a:off xmlns:a="http://schemas.openxmlformats.org/drawingml/2006/main" x="6416039" y="0"/>
          <a:ext xmlns:a="http://schemas.openxmlformats.org/drawingml/2006/main" cx="5450682" cy="30527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bd86ab072d44dd"/>
          </a:graphicData>
        </a:graphic>
      </p:graphicFrame>
      <p:graphicFrame>
        <p:nvGraphicFramePr>
          <p:cNvPr id="17" name="Chart 9"/>
          <p:cNvGraphicFramePr/>
          <p:nvPr/>
        </p:nvGraphicFramePr>
        <p:xfrm>
          <a:off xmlns:a="http://schemas.openxmlformats.org/drawingml/2006/main" x="6416039" y="3229438"/>
          <a:ext xmlns:a="http://schemas.openxmlformats.org/drawingml/2006/main" cx="5453063" cy="30527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603a1d32614991"/>
          </a:graphicData>
        </a:graphic>
      </p:graphicFrame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8E75B6-13E8-5189-2025-61255078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93" y="1526382"/>
            <a:ext cx="4020868" cy="3662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Trends:</a:t>
            </a:r>
          </a:p>
          <a:p xmlns:a="http://schemas.openxmlformats.org/drawingml/2006/main"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Category level aggregated demand data have no periodic seasonality.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Demand data has both Level and trend element for all four categories.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Same demand pattern segments for each category.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Promotion has direct effect on sales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May &amp; June-22 high sales that impacting overall trend for Tape- product category</a:t>
            </a:r>
          </a:p>
          <a:p xmlns:a="http://schemas.openxmlformats.org/drawingml/2006/main">
            <a:endParaRPr sz="1400" i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6351198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D24BFD5-D814-402B-B6C4-EEF6AE1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CB849D-8F72-F8E9-81D2-022A3FFA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2362"/>
            <a:ext cx="6281928" cy="4135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sz="6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Forecast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36FED7E8-9A97-475F-9FA4-113410D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139" y="1031284"/>
            <a:ext cx="3647661" cy="4436126"/>
          </a:xfrm>
          <a:custGeom xmlns:a="http://schemas.openxmlformats.org/drawingml/2006/main"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rect l="l" t="t" r="r" b="b"/>
            <a:pathLst>
              <a:path w="3647661" h="4436126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5715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sketch line">
            <a:extLst xmlns:a="http://schemas.openxmlformats.org/drawingml/2006/main">
              <a:ext uri="{FF2B5EF4-FFF2-40B4-BE49-F238E27FC236}">
                <a16:creationId xmlns:a16="http://schemas.microsoft.com/office/drawing/2014/main" id="{2A39B854-4B6C-4F7F-A602-6F97770C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9" y="5439978"/>
            <a:ext cx="6281928" cy="18288"/>
          </a:xfrm>
          <a:custGeom xmlns:a="http://schemas.openxmlformats.org/drawingml/2006/main"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rect l="l" t="t" r="r" b="b"/>
            <a:pathLst>
              <a:path w="6281928" h="18288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412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6281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3" name="Chart 1"/>
          <p:cNvGraphicFramePr/>
          <p:nvPr/>
        </p:nvGraphicFramePr>
        <p:xfrm>
          <a:off xmlns:a="http://schemas.openxmlformats.org/drawingml/2006/main" x="350987" y="3561907"/>
          <a:ext xmlns:a="http://schemas.openxmlformats.org/drawingml/2006/main" cx="5294900" cy="301964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b6b08076a249d1"/>
          </a:graphicData>
        </a:graphic>
      </p:graphicFrame>
      <p:graphicFrame>
        <p:nvGraphicFramePr>
          <p:cNvPr id="14" name="Chart 3"/>
          <p:cNvGraphicFramePr/>
          <p:nvPr/>
        </p:nvGraphicFramePr>
        <p:xfrm>
          <a:off xmlns:a="http://schemas.openxmlformats.org/drawingml/2006/main" x="6203545" y="3719512"/>
          <a:ext xmlns:a="http://schemas.openxmlformats.org/drawingml/2006/main" cx="4997190" cy="2862042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05af40cb374820"/>
          </a:graphicData>
        </a:graphic>
      </p:graphicFrame>
      <p:graphicFrame>
        <p:nvGraphicFramePr>
          <p:cNvPr id="15" name="Chart 4"/>
          <p:cNvGraphicFramePr/>
          <p:nvPr/>
        </p:nvGraphicFramePr>
        <p:xfrm>
          <a:off xmlns:a="http://schemas.openxmlformats.org/drawingml/2006/main" x="350987" y="796499"/>
          <a:ext xmlns:a="http://schemas.openxmlformats.org/drawingml/2006/main" cx="5294901" cy="283983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7cb70de46f4638"/>
          </a:graphicData>
        </a:graphic>
      </p:graphicFrame>
      <p:graphicFrame>
        <p:nvGraphicFramePr>
          <p:cNvPr id="16" name="Chart 5"/>
          <p:cNvGraphicFramePr/>
          <p:nvPr/>
        </p:nvGraphicFramePr>
        <p:xfrm>
          <a:off xmlns:a="http://schemas.openxmlformats.org/drawingml/2006/main" x="6096000" y="796498"/>
          <a:ext xmlns:a="http://schemas.openxmlformats.org/drawingml/2006/main" cx="5294900" cy="283983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fca8b19d0d4717"/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4817453-BCA8-BD84-D058-83EFC7BB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493" y="151068"/>
            <a:ext cx="369485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i="1">
                <a:latin typeface="Calibri"/>
                <a:ea typeface="Calibri"/>
                <a:cs typeface="Calibri"/>
              </a:rPr>
              <a:t>Insight: Aggregated forecast is biased</a:t>
            </a:r>
            <a:endParaRPr i="1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EDF64E-F281-74A1-0887-72115072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535" y="6510844"/>
            <a:ext cx="202254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MS Excel</a:t>
            </a:r>
          </a:p>
        </p:txBody>
      </p:sp>
    </p:spTree>
    <p:extLst>
      <p:ext uri="{BB962C8B-B14F-4D97-AF65-F5344CB8AC3E}">
        <p14:creationId xmlns:p14="http://schemas.microsoft.com/office/powerpoint/2010/main" val="14305299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4817453-BCA8-BD84-D058-83EFC7BB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434" y="209955"/>
            <a:ext cx="587378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Forecast Performance Metrics by Product: MAPE vs Accuracy </a:t>
            </a:r>
            <a:endParaRPr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" name="Chart 7"/>
          <p:cNvGraphicFramePr/>
          <p:nvPr/>
        </p:nvGraphicFramePr>
        <p:xfrm>
          <a:off xmlns:a="http://schemas.openxmlformats.org/drawingml/2006/main" x="3053637" y="818000"/>
          <a:ext xmlns:a="http://schemas.openxmlformats.org/drawingml/2006/main" cx="8991137" cy="48196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b07e37b39d4038"/>
          </a:graphicData>
        </a:graphic>
      </p:graphicFrame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C8C3351-7EF7-6F60-376F-7E2E003C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223" y="6230276"/>
            <a:ext cx="202254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MS Excel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9F117B-1882-8103-3991-DD6C3CDD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38" y="1951672"/>
            <a:ext cx="2517199" cy="29546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To measure the quality of forecast we can performance metrics like MPE, MAPE, WMPAR, RMSE.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Forecast for product-Toner4 has lowest MAPE that means high accuracy of the forecast.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0507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8" name="Chart 2"/>
          <p:cNvGraphicFramePr/>
          <p:nvPr/>
        </p:nvGraphicFramePr>
        <p:xfrm>
          <a:off xmlns:a="http://schemas.openxmlformats.org/drawingml/2006/main" x="5460739" y="1023048"/>
          <a:ext xmlns:a="http://schemas.openxmlformats.org/drawingml/2006/main" cx="5547699" cy="405128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230d7284144fb1"/>
          </a:graphicData>
        </a:graphic>
      </p:graphicFrame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734F373-2263-B98C-5E70-AC5B977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109" y="453509"/>
            <a:ext cx="602793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Forecast Performance Metrics by Category: MAPE vs Accuracy 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7161788-BA86-0E4D-268B-C000F59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823" y="6385724"/>
            <a:ext cx="202254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MS Excel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24D5F14-83E2-D346-62F5-79B5C8AB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497" y="1789931"/>
            <a:ext cx="2517199" cy="27392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Category level aggregated forecast has lower MAPE compared to product level forecast.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Aggregated forecast data are more accurate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Forecast for product category Toner is most accurate.</a:t>
            </a:r>
          </a:p>
        </p:txBody>
      </p:sp>
    </p:spTree>
    <p:extLst>
      <p:ext uri="{BB962C8B-B14F-4D97-AF65-F5344CB8AC3E}">
        <p14:creationId xmlns:p14="http://schemas.microsoft.com/office/powerpoint/2010/main" val="11942757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4817453-BCA8-BD84-D058-83EFC7BB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330" y="925592"/>
            <a:ext cx="317901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Ways improve forecast accuracy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9F117B-1882-8103-3991-DD6C3CDD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289" y="1294924"/>
            <a:ext cx="7990934" cy="4247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Prepare category level forecast and then distribute demand to product level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Prepare baseline forecast and then account effect of promotion on sales by considering sales lift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Prepare and compare different forecasting models and consider the model which has lowest MAPE.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Use right numbers of observations. It can measure by ex post forecast.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Track impact of touch points on the statistical  forecast and track when it gets override based on information.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More frequent check points and evolution of forecasting metrics.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Use point of sales data, if possible, which is more stable.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Eliminate SKU with different pattern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endParaRPr sz="1400" i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10309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61DDFE-071F-4200-B0AA-394476C2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734F373-2263-B98C-5E70-AC5B977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8" y="547815"/>
            <a:ext cx="5167185" cy="1680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sz="2400">
              <a:latin typeface="+mj-lt"/>
              <a:ea typeface="+mj-lt"/>
              <a:cs typeface="+mj-lt"/>
            </a:endParaRP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cd5e0f7d04b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079" y="2316631"/>
            <a:ext cx="5049178" cy="4102457"/>
          </a:xfrm>
          <a:prstGeom xmlns:a="http://schemas.openxmlformats.org/drawingml/2006/main" prst="rect">
            <a:avLst/>
          </a:prstGeom>
        </p:spPr>
      </p:pic>
      <p:pic>
        <p:nvPicPr>
          <p:cNvPr id="3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1d10da98c45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6619" y="2228334"/>
            <a:ext cx="5438318" cy="4085461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7FDE869-B0BB-E511-EFC8-F6B4065A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6419088"/>
            <a:ext cx="3026251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Jupyter Notebook, Python code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E7B9A70-1B0C-A73E-699B-969538C8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467" y="329028"/>
            <a:ext cx="9320335" cy="18466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ARIMA Model</a:t>
            </a:r>
          </a:p>
          <a:p xmlns:a="http://schemas.openxmlformats.org/drawingml/2006/main">
            <a:endParaRPr sz="9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Checked MAPE using ARIMA model in Python for Toner4 product and checked the cause-and-effect regression model to evaluate effect of the promotion on the sales. 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The p-value for both model is higher than the allowed range. MAPE is also higher than the current forecast.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R square is 0.56 cause-and-effect regression model that means only 56% of the observations are defined by the model.</a:t>
            </a:r>
            <a:endParaRPr sz="2000" i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8963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D24BFD5-D814-402B-B6C4-EEF6AE1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CB849D-8F72-F8E9-81D2-022A3FFA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2362"/>
            <a:ext cx="6281928" cy="4135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sz="6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Purchase Order Quantity 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36FED7E8-9A97-475F-9FA4-113410D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139" y="1031284"/>
            <a:ext cx="3647661" cy="4436126"/>
          </a:xfrm>
          <a:custGeom xmlns:a="http://schemas.openxmlformats.org/drawingml/2006/main"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rect l="l" t="t" r="r" b="b"/>
            <a:pathLst>
              <a:path w="3647661" h="4436126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5715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sketch line">
            <a:extLst xmlns:a="http://schemas.openxmlformats.org/drawingml/2006/main">
              <a:ext uri="{FF2B5EF4-FFF2-40B4-BE49-F238E27FC236}">
                <a16:creationId xmlns:a16="http://schemas.microsoft.com/office/drawing/2014/main" id="{2A39B854-4B6C-4F7F-A602-6F97770C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9" y="5439978"/>
            <a:ext cx="6281928" cy="18288"/>
          </a:xfrm>
          <a:custGeom xmlns:a="http://schemas.openxmlformats.org/drawingml/2006/main"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rect l="l" t="t" r="r" b="b"/>
            <a:pathLst>
              <a:path w="6281928" h="18288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412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36642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D2B266D-3625-4584-A5C3-7D3F672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463B99A-73EE-4FBB-B7C4-F9F9BC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A5D2A5D1-BA0D-47D3-B051-DA7743C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19825"/>
          </a:xfrm>
          <a:custGeom xmlns:a="http://schemas.openxmlformats.org/drawingml/2006/main"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26d6f2b6c4b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8157" y="767902"/>
            <a:ext cx="5742700" cy="4149711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86D38A-A788-B622-2328-75DCA288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7" y="6406679"/>
            <a:ext cx="202254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Tool : MS Excel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C1019ED-D916-5F17-C19D-0E851CD4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84" y="1027188"/>
            <a:ext cx="4021744" cy="30931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Periodic Inventory replenishment cycle</a:t>
            </a:r>
          </a:p>
          <a:p xmlns:a="http://schemas.openxmlformats.org/drawingml/2006/main">
            <a:endParaRPr sz="900"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Assumption:</a:t>
            </a:r>
          </a:p>
          <a:p xmlns:a="http://schemas.openxmlformats.org/drawingml/2006/main"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Planning horizon – 6 months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Demand- Variable, Known and continuous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Leadtime- Constant and deterministic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Dependence of another segment- No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Capacity constraints- None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Discounts from the supplier- None</a:t>
            </a:r>
          </a:p>
          <a:p xmlns:a="http://schemas.openxmlformats.org/drawingml/2006/main">
            <a:endParaRPr sz="1400" i="1"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 sz="1400" i="1">
                <a:latin typeface="Calibri"/>
                <a:ea typeface="Calibri"/>
                <a:cs typeface="Calibri"/>
              </a:rPr>
              <a:t>Next PO quantity in 1 month review period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Toner4= 13858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400" i="1">
                <a:latin typeface="Calibri"/>
                <a:ea typeface="Calibri"/>
                <a:cs typeface="Calibri"/>
              </a:rPr>
              <a:t>Tape1=7859</a:t>
            </a:r>
            <a:endParaRPr sz="900" i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81738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D24BFD5-D814-402B-B6C4-EEF6AE1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CB849D-8F72-F8E9-81D2-022A3FFA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2362"/>
            <a:ext cx="6281928" cy="4135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sz="6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Q&amp;A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36FED7E8-9A97-475F-9FA4-113410D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139" y="1031284"/>
            <a:ext cx="3647661" cy="4436126"/>
          </a:xfrm>
          <a:custGeom xmlns:a="http://schemas.openxmlformats.org/drawingml/2006/main"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rect l="l" t="t" r="r" b="b"/>
            <a:pathLst>
              <a:path w="3647661" h="4436126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5715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sketch line">
            <a:extLst xmlns:a="http://schemas.openxmlformats.org/drawingml/2006/main">
              <a:ext uri="{FF2B5EF4-FFF2-40B4-BE49-F238E27FC236}">
                <a16:creationId xmlns:a16="http://schemas.microsoft.com/office/drawing/2014/main" id="{2A39B854-4B6C-4F7F-A602-6F97770C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9" y="5439978"/>
            <a:ext cx="6281928" cy="18288"/>
          </a:xfrm>
          <a:custGeom xmlns:a="http://schemas.openxmlformats.org/drawingml/2006/main"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rect l="l" t="t" r="r" b="b"/>
            <a:pathLst>
              <a:path w="6281928" h="18288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412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05134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D24BFD5-D814-402B-B6C4-EEF6AE1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CB849D-8F72-F8E9-81D2-022A3FFA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2362"/>
            <a:ext cx="6281928" cy="4135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sz="6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Thank You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36FED7E8-9A97-475F-9FA4-113410D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139" y="1031284"/>
            <a:ext cx="3647661" cy="4436126"/>
          </a:xfrm>
          <a:custGeom xmlns:a="http://schemas.openxmlformats.org/drawingml/2006/main"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rect l="l" t="t" r="r" b="b"/>
            <a:pathLst>
              <a:path w="3647661" h="4436126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5715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sketch line">
            <a:extLst xmlns:a="http://schemas.openxmlformats.org/drawingml/2006/main">
              <a:ext uri="{FF2B5EF4-FFF2-40B4-BE49-F238E27FC236}">
                <a16:creationId xmlns:a16="http://schemas.microsoft.com/office/drawing/2014/main" id="{2A39B854-4B6C-4F7F-A602-6F97770C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9" y="5439978"/>
            <a:ext cx="6281928" cy="18288"/>
          </a:xfrm>
          <a:custGeom xmlns:a="http://schemas.openxmlformats.org/drawingml/2006/main"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rect l="l" t="t" r="r" b="b"/>
            <a:pathLst>
              <a:path w="6281928" h="18288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412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9475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D24BFD5-D814-402B-B6C4-EEF6AE1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CB849D-8F72-F8E9-81D2-022A3FFA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2362"/>
            <a:ext cx="6281928" cy="4135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sz="6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Appendix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36FED7E8-9A97-475F-9FA4-113410D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139" y="1031284"/>
            <a:ext cx="3647661" cy="4436126"/>
          </a:xfrm>
          <a:custGeom xmlns:a="http://schemas.openxmlformats.org/drawingml/2006/main"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rect l="l" t="t" r="r" b="b"/>
            <a:pathLst>
              <a:path w="3647661" h="4436126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5715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sketch line">
            <a:extLst xmlns:a="http://schemas.openxmlformats.org/drawingml/2006/main">
              <a:ext uri="{FF2B5EF4-FFF2-40B4-BE49-F238E27FC236}">
                <a16:creationId xmlns:a16="http://schemas.microsoft.com/office/drawing/2014/main" id="{2A39B854-4B6C-4F7F-A602-6F97770C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9" y="5439978"/>
            <a:ext cx="6281928" cy="18288"/>
          </a:xfrm>
          <a:custGeom xmlns:a="http://schemas.openxmlformats.org/drawingml/2006/main"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rect l="l" t="t" r="r" b="b"/>
            <a:pathLst>
              <a:path w="6281928" h="18288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412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2503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Freeform 6">
            <a:extLst xmlns:a="http://schemas.openxmlformats.org/drawingml/2006/main">
              <a:ext uri="{FF2B5EF4-FFF2-40B4-BE49-F238E27FC236}">
                <a16:creationId xmlns:a16="http://schemas.microsoft.com/office/drawing/2014/main" id="{69D184B2-2226-4E31-BCCB-44433076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533" y="918266"/>
            <a:ext cx="706127" cy="5863534"/>
          </a:xfrm>
          <a:custGeom xmlns:a="http://schemas.openxmlformats.org/drawingml/2006/main"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Freeform 7">
            <a:extLst xmlns:a="http://schemas.openxmlformats.org/drawingml/2006/main">
              <a:ext uri="{FF2B5EF4-FFF2-40B4-BE49-F238E27FC236}">
                <a16:creationId xmlns:a16="http://schemas.microsoft.com/office/drawing/2014/main" id="{1AC4D4E3-486A-464A-8EC8-D4488109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879" y="643467"/>
            <a:ext cx="420307" cy="5668919"/>
          </a:xfrm>
          <a:custGeom xmlns:a="http://schemas.openxmlformats.org/drawingml/2006/main"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864DE13E-58EB-4475-B79C-0D4FC651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87" y="643467"/>
            <a:ext cx="10933503" cy="5391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traight Connector 49">
            <a:extLst xmlns:a="http://schemas.openxmlformats.org/drawingml/2006/main">
              <a:ext uri="{FF2B5EF4-FFF2-40B4-BE49-F238E27FC236}">
                <a16:creationId xmlns:a16="http://schemas.microsoft.com/office/drawing/2014/main" id="{C4A977ED-B1FB-49B7-A882-AABA5BB0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9239"/>
            <a:ext cx="0" cy="3200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3413b77f54e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398" y="712591"/>
            <a:ext cx="9521542" cy="2577260"/>
          </a:xfrm>
          <a:prstGeom xmlns:a="http://schemas.openxmlformats.org/drawingml/2006/main" prst="rect">
            <a:avLst/>
          </a:prstGeom>
        </p:spPr>
      </p:pic>
      <p:pic>
        <p:nvPicPr>
          <p:cNvPr id="5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8a32436524e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17" y="3358975"/>
            <a:ext cx="9397123" cy="2545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625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D2B266D-3625-4584-A5C3-7D3F672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463B99A-73EE-4FBB-B7C4-F9F9BC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A5D2A5D1-BA0D-47D3-B051-DA7743C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19825"/>
          </a:xfrm>
          <a:custGeom xmlns:a="http://schemas.openxmlformats.org/drawingml/2006/main"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31" name="Chart 2"/>
          <p:cNvGraphicFramePr/>
          <p:nvPr/>
        </p:nvGraphicFramePr>
        <p:xfrm>
          <a:off xmlns:a="http://schemas.openxmlformats.org/drawingml/2006/main" x="768525" y="309874"/>
          <a:ext xmlns:a="http://schemas.openxmlformats.org/drawingml/2006/main" cx="5453063" cy="30527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cddb3491b24840"/>
          </a:graphicData>
        </a:graphic>
      </p:graphicFrame>
      <p:graphicFrame>
        <p:nvGraphicFramePr>
          <p:cNvPr id="32" name="Chart 3"/>
          <p:cNvGraphicFramePr/>
          <p:nvPr/>
        </p:nvGraphicFramePr>
        <p:xfrm>
          <a:off xmlns:a="http://schemas.openxmlformats.org/drawingml/2006/main" x="6573854" y="376236"/>
          <a:ext xmlns:a="http://schemas.openxmlformats.org/drawingml/2006/main" cx="5453063" cy="30527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ca06107dd14693"/>
          </a:graphicData>
        </a:graphic>
      </p:graphicFrame>
      <p:graphicFrame>
        <p:nvGraphicFramePr>
          <p:cNvPr id="33" name="Chart 4"/>
          <p:cNvGraphicFramePr/>
          <p:nvPr/>
        </p:nvGraphicFramePr>
        <p:xfrm>
          <a:off xmlns:a="http://schemas.openxmlformats.org/drawingml/2006/main" x="924848" y="3495362"/>
          <a:ext xmlns:a="http://schemas.openxmlformats.org/drawingml/2006/main" cx="5453063" cy="30527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71ffdacd914248"/>
          </a:graphicData>
        </a:graphic>
      </p:graphicFrame>
      <p:graphicFrame>
        <p:nvGraphicFramePr>
          <p:cNvPr id="34" name="Chart 5"/>
          <p:cNvGraphicFramePr/>
          <p:nvPr/>
        </p:nvGraphicFramePr>
        <p:xfrm>
          <a:off xmlns:a="http://schemas.openxmlformats.org/drawingml/2006/main" x="6643322" y="3429001"/>
          <a:ext xmlns:a="http://schemas.openxmlformats.org/drawingml/2006/main" cx="5455444" cy="305276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21cbb2aea6464f"/>
          </a:graphicData>
        </a:graphic>
      </p:graphicFrame>
    </p:spTree>
    <p:extLst>
      <p:ext uri="{BB962C8B-B14F-4D97-AF65-F5344CB8AC3E}">
        <p14:creationId xmlns:p14="http://schemas.microsoft.com/office/powerpoint/2010/main" val="9054388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D2B266D-3625-4584-A5C3-7D3F672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463B99A-73EE-4FBB-B7C4-F9F9BC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A5D2A5D1-BA0D-47D3-B051-DA7743C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19825"/>
          </a:xfrm>
          <a:custGeom xmlns:a="http://schemas.openxmlformats.org/drawingml/2006/main"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30" name="Chart 1"/>
          <p:cNvGraphicFramePr/>
          <p:nvPr/>
        </p:nvGraphicFramePr>
        <p:xfrm>
          <a:off xmlns:a="http://schemas.openxmlformats.org/drawingml/2006/main" x="430325" y="376236"/>
          <a:ext xmlns:a="http://schemas.openxmlformats.org/drawingml/2006/main" cx="5453063" cy="30527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beb43620464a6d"/>
          </a:graphicData>
        </a:graphic>
      </p:graphicFrame>
      <p:graphicFrame>
        <p:nvGraphicFramePr>
          <p:cNvPr id="31" name="Chart 6"/>
          <p:cNvGraphicFramePr/>
          <p:nvPr/>
        </p:nvGraphicFramePr>
        <p:xfrm>
          <a:off xmlns:a="http://schemas.openxmlformats.org/drawingml/2006/main" x="5883388" y="356748"/>
          <a:ext xmlns:a="http://schemas.openxmlformats.org/drawingml/2006/main" cx="5453063" cy="30527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bf1b871d524d6c"/>
          </a:graphicData>
        </a:graphic>
      </p:graphicFrame>
      <p:graphicFrame>
        <p:nvGraphicFramePr>
          <p:cNvPr id="32" name="Chart 7"/>
          <p:cNvGraphicFramePr/>
          <p:nvPr/>
        </p:nvGraphicFramePr>
        <p:xfrm>
          <a:off xmlns:a="http://schemas.openxmlformats.org/drawingml/2006/main" x="3285493" y="3409512"/>
          <a:ext xmlns:a="http://schemas.openxmlformats.org/drawingml/2006/main" cx="5453063" cy="30527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4660adedad449d"/>
          </a:graphicData>
        </a:graphic>
      </p:graphicFrame>
    </p:spTree>
    <p:extLst>
      <p:ext uri="{BB962C8B-B14F-4D97-AF65-F5344CB8AC3E}">
        <p14:creationId xmlns:p14="http://schemas.microsoft.com/office/powerpoint/2010/main" val="18363983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D2B266D-3625-4584-A5C3-7D3F672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463B99A-73EE-4FBB-B7C4-F9F9BCC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A5D2A5D1-BA0D-47D3-B051-DA7743C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19825"/>
          </a:xfrm>
          <a:custGeom xmlns:a="http://schemas.openxmlformats.org/drawingml/2006/main"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A419030-8B5D-50E2-BE93-1FB2FE06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009" y="1158949"/>
            <a:ext cx="9494875" cy="3416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Summary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Insights: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t>Overall Sales growth 9%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t>Sales for all three products within Tape category has decreased compared to previous fiscal year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t>Sales has increased for all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t>Top 5 selling products in terms of quantity remain same for 2023 &amp; 2024 fiscal year.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t>We can use aggregated category sales data for forecasting for Tone, Tape and Drum categories as their product sales ratio has changed slightly except for Ink.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endParaRPr/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89634426"/>
      </p:ext>
    </p:extLst>
  </p:cSld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2026-08-20T04:05:13.2850000Z</dcterms:created>
  <dcterms:modified xsi:type="dcterms:W3CDTF">2026-08-20T04:05:13.2860000Z</dcterms:modified>
</coreProperties>
</file>